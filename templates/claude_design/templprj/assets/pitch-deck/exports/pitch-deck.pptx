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cover earns nothing and loses plenty. Name, one line, stage, date, confidentiality — that is all. The one-liner is the hardest sentence in the deck: it must say what it does and for whom, without a category claim you have not yet argued. No logo slot is filled here on purpose: a placeholder mark is the thing that survives into a real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questions, and the third is the one that separates a real problem from a plausible one: how do you know. Evidence beats adjectives. Name a specific person or role who hurts, quantify the cost in their units — hours, dollars, churn — and say where the number came from. If the evidence is anecdotal, say so; an honest anecdote reads better than a fabricated statistic.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often missing slide, and the one that most often decides the meeting. Something changed — a cost curve, a regulation, a platform, a behaviour — and that change is why this is possible now and was not before. Without it the reader's question is 'why has nobody done this', and they will answer it themselves, unfavourably.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then show it. The sentence is not the pitch — it is the plainest possible description of what the thing is. Resist the urge to describe the benefit here; the benefit belongs to the problem slide and the model slide. Replace the hatched panel with a real screen, not a diagram of your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steps, maximum. If it takes four, the product is not yet simple enough to pitch. Each step is what the customer does, not what the system does — 'connect your billing data', not 'ingest via API'. The test: someone who has never seen the product can repeat these three steps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derivation matters more than the number. A TAM with no arithmetic behind it is read as decoration and discounted entirely; a smaller number with a visible bottom-up calculation is read as competence. Show the multiplication. Mark the figures illustrative unless they are sourced.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charge, for what, and whether the arithmetic works. Unit economics before scale: one customer, one period, all the costs. A reader who cannot tell whether a single customer is profitable will assume not. Traction comes after this slide on purpose — a metric means nothing until the reader knows what is being sold.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channels at most, and be explicit about which one is proven versus hypothesised. Listing five channels signals that none of them works yet. One channel with real numbers beats three with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Dated, trended, and honest. Three metrics maximum, chosen because they are the ones you manage against — not the three that look best. The chart matters more than the headline numbers because it shows direction. If the trend is flat or down, address it here rather than letting it be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real competitors, including the ones you would rather not. 'We have no competitors' is read as 'we have not looked', and the status quo is always a competitor. The axis is the argument: choose the dimension on which you win and which the customer actually cares about — those are not always the same dimension, and picking the wrong one is the failure mode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these people, specifically, for this problem. Not a résumé — the one fact about each person that makes them the obvious choice here. Name the gaps too, and what the round hires; an acknowledged gap reads as self-awareness, a hidden one reads as a surprise later. Headshots are a licence question: leave them hatched rather than substituting stock.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round size without a use of funds is not an ask, and it is the most common way a deck arrives unfinished. State the number, the split, and the milestones it buys — then the reader can judge whether the number is right, which is the judgement you actually want them making.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and contact details. This is the slide left on screen while questions are asked, so it should carry the single thing you want remembered — not a thank-you. If you cannot decide what that sentence is, the deck above it is not finished.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1A"/>
        </a:solidFill>
      </p:bgPr>
    </p:bg>
    <p:spTree>
      <p:nvGrpSpPr>
        <p:cNvPr id="1" name=""/>
        <p:cNvGrpSpPr/>
        <p:nvPr/>
      </p:nvGrpSpPr>
      <p:grpSpPr>
        <a:xfrm>
          <a:off x="0" y="0"/>
          <a:ext cx="0" cy="0"/>
          <a:chOff x="0" y="0"/>
          <a:chExt cx="0" cy="0"/>
        </a:xfrm>
      </p:grpSpPr>
      <p:sp>
        <p:nvSpPr>
          <p:cNvPr id="2" name="Shape 0"/>
          <p:cNvSpPr/>
          <p:nvPr/>
        </p:nvSpPr>
        <p:spPr>
          <a:xfrm>
            <a:off x="914400" y="1409700"/>
            <a:ext cx="16459200" cy="9525"/>
          </a:xfrm>
          <a:prstGeom prst="rect">
            <a:avLst/>
          </a:prstGeom>
          <a:solidFill>
            <a:srgbClr val="474747"/>
          </a:solidFill>
          <a:ln/>
        </p:spPr>
      </p:sp>
      <p:sp>
        <p:nvSpPr>
          <p:cNvPr id="3" name="Text 1"/>
          <p:cNvSpPr/>
          <p:nvPr/>
        </p:nvSpPr>
        <p:spPr>
          <a:xfrm>
            <a:off x="914400" y="914400"/>
            <a:ext cx="2573700" cy="304800"/>
          </a:xfrm>
          <a:prstGeom prst="rect">
            <a:avLst/>
          </a:prstGeom>
          <a:noFill/>
          <a:ln/>
        </p:spPr>
        <p:txBody>
          <a:bodyPr wrap="square" lIns="25400" tIns="25400" rIns="25400" bIns="25400" rtlCol="0" anchor="t">
            <a:normAutofit/>
          </a:bodyPr>
          <a:lstStyle/>
          <a:p>
            <a:pPr algn="l" indent="0" marL="0">
              <a:buNone/>
            </a:pPr>
            <a:r>
              <a:rPr lang="en-US" sz="1800" dirty="0">
                <a:solidFill>
                  <a:srgbClr val="A3A3A3"/>
                </a:solidFill>
                <a:latin typeface="Courier New" pitchFamily="34" charset="0"/>
                <a:ea typeface="Courier New" pitchFamily="34" charset="-122"/>
                <a:cs typeface="Courier New" pitchFamily="34" charset="-120"/>
              </a:rPr>
              <a:t>pitch deck · seed</a:t>
            </a:r>
            <a:endParaRPr lang="en-US" sz="1800" dirty="0"/>
          </a:p>
        </p:txBody>
      </p:sp>
      <p:sp>
        <p:nvSpPr>
          <p:cNvPr id="4" name="Text 2"/>
          <p:cNvSpPr/>
          <p:nvPr/>
        </p:nvSpPr>
        <p:spPr>
          <a:xfrm>
            <a:off x="16547827" y="914400"/>
            <a:ext cx="901973" cy="304800"/>
          </a:xfrm>
          <a:prstGeom prst="rect">
            <a:avLst/>
          </a:prstGeom>
          <a:noFill/>
          <a:ln/>
        </p:spPr>
        <p:txBody>
          <a:bodyPr wrap="square" lIns="25400" tIns="25400" rIns="25400" bIns="25400" rtlCol="0" anchor="t">
            <a:normAutofit/>
          </a:bodyPr>
          <a:lstStyle/>
          <a:p>
            <a:pPr algn="l" indent="0" marL="0">
              <a:buNone/>
            </a:pPr>
            <a:r>
              <a:rPr lang="en-US" sz="1800" dirty="0">
                <a:solidFill>
                  <a:srgbClr val="A3A3A3"/>
                </a:solidFill>
                <a:latin typeface="Courier New" pitchFamily="34" charset="0"/>
                <a:ea typeface="Courier New" pitchFamily="34" charset="-122"/>
                <a:cs typeface="Courier New" pitchFamily="34" charset="-120"/>
              </a:rPr>
              <a:t>[date]</a:t>
            </a:r>
            <a:endParaRPr lang="en-US" sz="1800" dirty="0"/>
          </a:p>
        </p:txBody>
      </p:sp>
      <p:sp>
        <p:nvSpPr>
          <p:cNvPr id="5" name="Shape 3"/>
          <p:cNvSpPr/>
          <p:nvPr/>
        </p:nvSpPr>
        <p:spPr>
          <a:xfrm>
            <a:off x="914400" y="2808461"/>
            <a:ext cx="3067050" cy="1543050"/>
          </a:xfrm>
          <a:prstGeom prst="rect">
            <a:avLst/>
          </a:prstGeom>
          <a:solidFill>
            <a:srgbClr val="2E2E2E"/>
          </a:solidFill>
          <a:ln w="9525">
            <a:solidFill>
              <a:srgbClr val="616161"/>
            </a:solidFill>
            <a:prstDash val="solid"/>
          </a:ln>
        </p:spPr>
      </p:sp>
      <p:sp>
        <p:nvSpPr>
          <p:cNvPr id="6" name="Shape 4"/>
          <p:cNvSpPr/>
          <p:nvPr/>
        </p:nvSpPr>
        <p:spPr>
          <a:xfrm>
            <a:off x="1666652" y="3360911"/>
            <a:ext cx="1562546" cy="438150"/>
          </a:xfrm>
          <a:prstGeom prst="rect">
            <a:avLst/>
          </a:prstGeom>
          <a:solidFill>
            <a:srgbClr val="1A1A1A"/>
          </a:solidFill>
          <a:ln w="9525">
            <a:solidFill>
              <a:srgbClr val="616161"/>
            </a:solidFill>
            <a:prstDash val="solid"/>
          </a:ln>
        </p:spPr>
      </p:sp>
      <p:sp>
        <p:nvSpPr>
          <p:cNvPr id="7" name="Text 5"/>
          <p:cNvSpPr/>
          <p:nvPr/>
        </p:nvSpPr>
        <p:spPr>
          <a:xfrm>
            <a:off x="1828577" y="3446636"/>
            <a:ext cx="1314896" cy="304800"/>
          </a:xfrm>
          <a:prstGeom prst="rect">
            <a:avLst/>
          </a:prstGeom>
          <a:noFill/>
          <a:ln/>
        </p:spPr>
        <p:txBody>
          <a:bodyPr wrap="square" lIns="25400" tIns="25400" rIns="25400" bIns="25400" rtlCol="0" anchor="t">
            <a:normAutofit/>
          </a:bodyPr>
          <a:lstStyle/>
          <a:p>
            <a:pPr algn="l" indent="0" marL="0">
              <a:buNone/>
            </a:pPr>
            <a:r>
              <a:rPr lang="en-US" sz="1800" dirty="0">
                <a:solidFill>
                  <a:srgbClr val="A3A3A3"/>
                </a:solidFill>
                <a:latin typeface="Courier New" pitchFamily="34" charset="0"/>
                <a:ea typeface="Courier New" pitchFamily="34" charset="-122"/>
                <a:cs typeface="Courier New" pitchFamily="34" charset="-120"/>
              </a:rPr>
              <a:t>logo mark</a:t>
            </a:r>
            <a:endParaRPr lang="en-US" sz="1800" dirty="0"/>
          </a:p>
        </p:txBody>
      </p:sp>
      <p:sp>
        <p:nvSpPr>
          <p:cNvPr id="8" name="Text 6"/>
          <p:cNvSpPr/>
          <p:nvPr/>
        </p:nvSpPr>
        <p:spPr>
          <a:xfrm>
            <a:off x="914400" y="4808711"/>
            <a:ext cx="18105120" cy="1284908"/>
          </a:xfrm>
          <a:prstGeom prst="rect">
            <a:avLst/>
          </a:prstGeom>
          <a:noFill/>
          <a:ln/>
        </p:spPr>
        <p:txBody>
          <a:bodyPr wrap="square" lIns="25400" tIns="25400" rIns="25400" bIns="25400" rtlCol="0" anchor="t">
            <a:normAutofit/>
          </a:bodyPr>
          <a:lstStyle/>
          <a:p>
            <a:pPr algn="l" indent="0" marL="0">
              <a:lnSpc>
                <a:spcPct val="97323"/>
              </a:lnSpc>
              <a:buNone/>
            </a:pPr>
            <a:r>
              <a:rPr lang="en-US" sz="8925" b="1" dirty="0">
                <a:solidFill>
                  <a:srgbClr val="A3A3A3"/>
                </a:solidFill>
                <a:latin typeface="Courier New" pitchFamily="34" charset="0"/>
                <a:ea typeface="Courier New" pitchFamily="34" charset="-122"/>
                <a:cs typeface="Courier New" pitchFamily="34" charset="-120"/>
              </a:rPr>
              <a:t>[venture name]</a:t>
            </a:r>
            <a:endParaRPr lang="en-US" sz="8925" dirty="0"/>
          </a:p>
        </p:txBody>
      </p:sp>
      <p:sp>
        <p:nvSpPr>
          <p:cNvPr id="9" name="Text 7"/>
          <p:cNvSpPr/>
          <p:nvPr/>
        </p:nvSpPr>
        <p:spPr>
          <a:xfrm>
            <a:off x="914400" y="6512719"/>
            <a:ext cx="13735050" cy="1003846"/>
          </a:xfrm>
          <a:prstGeom prst="rect">
            <a:avLst/>
          </a:prstGeom>
          <a:noFill/>
          <a:ln/>
        </p:spPr>
        <p:txBody>
          <a:bodyPr wrap="square" lIns="25400" tIns="25400" rIns="25400" bIns="25400" rtlCol="0" anchor="t">
            <a:normAutofit/>
          </a:bodyPr>
          <a:lstStyle/>
          <a:p>
            <a:pPr algn="l" indent="0" marL="0">
              <a:lnSpc>
                <a:spcPct val="115227"/>
              </a:lnSpc>
              <a:buNone/>
            </a:pPr>
            <a:r>
              <a:rPr lang="en-US" sz="2925" dirty="0">
                <a:solidFill>
                  <a:srgbClr val="A3A3A3"/>
                </a:solidFill>
                <a:latin typeface="Courier New" pitchFamily="34" charset="0"/>
                <a:ea typeface="Courier New" pitchFamily="34" charset="-122"/>
                <a:cs typeface="Courier New" pitchFamily="34" charset="-120"/>
              </a:rPr>
              <a:t>[one-line description — what it does, for whom, no category claim]</a:t>
            </a:r>
            <a:endParaRPr lang="en-US" sz="2925" dirty="0"/>
          </a:p>
        </p:txBody>
      </p:sp>
      <p:sp>
        <p:nvSpPr>
          <p:cNvPr id="10" name="Shape 8"/>
          <p:cNvSpPr/>
          <p:nvPr/>
        </p:nvSpPr>
        <p:spPr>
          <a:xfrm>
            <a:off x="914400" y="8867775"/>
            <a:ext cx="16459200" cy="9525"/>
          </a:xfrm>
          <a:prstGeom prst="rect">
            <a:avLst/>
          </a:prstGeom>
          <a:solidFill>
            <a:srgbClr val="474747"/>
          </a:solidFill>
          <a:ln/>
        </p:spPr>
      </p:sp>
      <p:sp>
        <p:nvSpPr>
          <p:cNvPr id="11" name="Text 9"/>
          <p:cNvSpPr/>
          <p:nvPr/>
        </p:nvSpPr>
        <p:spPr>
          <a:xfrm>
            <a:off x="914400" y="9105900"/>
            <a:ext cx="3330617" cy="304800"/>
          </a:xfrm>
          <a:prstGeom prst="rect">
            <a:avLst/>
          </a:prstGeom>
          <a:noFill/>
          <a:ln/>
        </p:spPr>
        <p:txBody>
          <a:bodyPr wrap="square" lIns="25400" tIns="25400" rIns="25400" bIns="25400" rtlCol="0" anchor="t">
            <a:normAutofit/>
          </a:bodyPr>
          <a:lstStyle/>
          <a:p>
            <a:pPr algn="l" indent="0" marL="0">
              <a:buNone/>
            </a:pPr>
            <a:r>
              <a:rPr lang="en-US" sz="1800" dirty="0">
                <a:solidFill>
                  <a:srgbClr val="808080"/>
                </a:solidFill>
                <a:latin typeface="Courier New" pitchFamily="34" charset="0"/>
                <a:ea typeface="Courier New" pitchFamily="34" charset="-122"/>
                <a:cs typeface="Courier New" pitchFamily="34" charset="-120"/>
              </a:rPr>
              <a:t>[confidentiality note]</a:t>
            </a:r>
            <a:endParaRPr lang="en-US" sz="1800" dirty="0"/>
          </a:p>
        </p:txBody>
      </p:sp>
      <p:sp>
        <p:nvSpPr>
          <p:cNvPr id="12" name="Text 10"/>
          <p:cNvSpPr/>
          <p:nvPr/>
        </p:nvSpPr>
        <p:spPr>
          <a:xfrm>
            <a:off x="15309131" y="9105900"/>
            <a:ext cx="2270916" cy="304800"/>
          </a:xfrm>
          <a:prstGeom prst="rect">
            <a:avLst/>
          </a:prstGeom>
          <a:noFill/>
          <a:ln/>
        </p:spPr>
        <p:txBody>
          <a:bodyPr wrap="square" lIns="25400" tIns="25400" rIns="25400" bIns="25400" rtlCol="0" anchor="t">
            <a:normAutofit/>
          </a:bodyPr>
          <a:lstStyle/>
          <a:p>
            <a:pPr algn="l" indent="0" marL="0">
              <a:buNone/>
            </a:pPr>
            <a:r>
              <a:rPr lang="en-US" sz="1800" dirty="0">
                <a:solidFill>
                  <a:srgbClr val="808080"/>
                </a:solidFill>
                <a:latin typeface="Courier New" pitchFamily="34" charset="0"/>
                <a:ea typeface="Courier New" pitchFamily="34" charset="-122"/>
                <a:cs typeface="Courier New" pitchFamily="34" charset="-120"/>
              </a:rPr>
              <a:t>[contact email]</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14400" y="1409700"/>
            <a:ext cx="16459200" cy="9525"/>
          </a:xfrm>
          <a:prstGeom prst="rect">
            <a:avLst/>
          </a:prstGeom>
          <a:solidFill>
            <a:srgbClr val="DCDCDC"/>
          </a:solidFill>
          <a:ln/>
        </p:spPr>
      </p:sp>
      <p:sp>
        <p:nvSpPr>
          <p:cNvPr id="3" name="Text 1"/>
          <p:cNvSpPr/>
          <p:nvPr/>
        </p:nvSpPr>
        <p:spPr>
          <a:xfrm>
            <a:off x="914400" y="914400"/>
            <a:ext cx="1816700" cy="304800"/>
          </a:xfrm>
          <a:prstGeom prst="rect">
            <a:avLst/>
          </a:prstGeom>
          <a:noFill/>
          <a:ln/>
        </p:spPr>
        <p:txBody>
          <a:bodyPr wrap="square" lIns="25400" tIns="25400" rIns="25400" bIns="25400" rtlCol="0" anchor="t">
            <a:normAutofit/>
          </a:bodyPr>
          <a:lstStyle/>
          <a:p>
            <a:pPr algn="l" indent="0" marL="0">
              <a:buNone/>
            </a:pPr>
            <a:r>
              <a:rPr lang="en-US" sz="1800" dirty="0">
                <a:solidFill>
                  <a:srgbClr val="808080"/>
                </a:solidFill>
                <a:latin typeface="Courier New" pitchFamily="34" charset="0"/>
                <a:ea typeface="Courier New" pitchFamily="34" charset="-122"/>
                <a:cs typeface="Courier New" pitchFamily="34" charset="-120"/>
              </a:rPr>
              <a:t>02 · problem</a:t>
            </a:r>
            <a:endParaRPr lang="en-US" sz="1800" dirty="0"/>
          </a:p>
        </p:txBody>
      </p:sp>
      <p:sp>
        <p:nvSpPr>
          <p:cNvPr id="4" name="Text 2"/>
          <p:cNvSpPr/>
          <p:nvPr/>
        </p:nvSpPr>
        <p:spPr>
          <a:xfrm>
            <a:off x="15446797" y="914400"/>
            <a:ext cx="2119484" cy="304800"/>
          </a:xfrm>
          <a:prstGeom prst="rect">
            <a:avLst/>
          </a:prstGeom>
          <a:noFill/>
          <a:ln/>
        </p:spPr>
        <p:txBody>
          <a:bodyPr wrap="square" lIns="25400" tIns="25400" rIns="25400" bIns="25400" rtlCol="0" anchor="t">
            <a:normAutofit/>
          </a:bodyPr>
          <a:lstStyle/>
          <a:p>
            <a:pPr algn="l" indent="0" marL="0">
              <a:buNone/>
            </a:pPr>
            <a:r>
              <a:rPr lang="en-US" sz="1800" dirty="0">
                <a:solidFill>
                  <a:srgbClr val="808080"/>
                </a:solidFill>
                <a:latin typeface="Courier New" pitchFamily="34" charset="0"/>
                <a:ea typeface="Courier New" pitchFamily="34" charset="-122"/>
                <a:cs typeface="Courier New" pitchFamily="34" charset="-120"/>
              </a:rPr>
              <a:t>[venture name]</a:t>
            </a:r>
            <a:endParaRPr lang="en-US" sz="1800" dirty="0"/>
          </a:p>
        </p:txBody>
      </p:sp>
      <p:sp>
        <p:nvSpPr>
          <p:cNvPr id="5" name="Text 3"/>
          <p:cNvSpPr/>
          <p:nvPr/>
        </p:nvSpPr>
        <p:spPr>
          <a:xfrm>
            <a:off x="914400" y="1876425"/>
            <a:ext cx="18105120" cy="834330"/>
          </a:xfrm>
          <a:prstGeom prst="rect">
            <a:avLst/>
          </a:prstGeom>
          <a:noFill/>
          <a:ln/>
        </p:spPr>
        <p:txBody>
          <a:bodyPr wrap="square" lIns="25400" tIns="25400" rIns="25400" bIns="25400" rtlCol="0" anchor="t">
            <a:normAutofit/>
          </a:bodyPr>
          <a:lstStyle/>
          <a:p>
            <a:pPr algn="l" indent="0" marL="0">
              <a:lnSpc>
                <a:spcPct val="95543"/>
              </a:lnSpc>
              <a:buNone/>
            </a:pPr>
            <a:r>
              <a:rPr lang="en-US" sz="5700" b="1" dirty="0">
                <a:solidFill>
                  <a:srgbClr val="1A1A1A"/>
                </a:solidFill>
                <a:latin typeface="Arial" pitchFamily="34" charset="0"/>
                <a:ea typeface="Arial" pitchFamily="34" charset="-122"/>
                <a:cs typeface="Arial" pitchFamily="34" charset="-120"/>
              </a:rPr>
              <a:t>The problem</a:t>
            </a:r>
            <a:endParaRPr lang="en-US" sz="5700" dirty="0"/>
          </a:p>
        </p:txBody>
      </p:sp>
      <p:sp>
        <p:nvSpPr>
          <p:cNvPr id="6" name="Text 4"/>
          <p:cNvSpPr/>
          <p:nvPr/>
        </p:nvSpPr>
        <p:spPr>
          <a:xfrm>
            <a:off x="914400" y="3129855"/>
            <a:ext cx="14716125" cy="1003846"/>
          </a:xfrm>
          <a:prstGeom prst="rect">
            <a:avLst/>
          </a:prstGeom>
          <a:noFill/>
          <a:ln/>
        </p:spPr>
        <p:txBody>
          <a:bodyPr wrap="square" lIns="25400" tIns="25400" rIns="25400" bIns="25400" rtlCol="0" anchor="t">
            <a:normAutofit/>
          </a:bodyPr>
          <a:lstStyle/>
          <a:p>
            <a:pPr algn="l" indent="0" marL="0">
              <a:lnSpc>
                <a:spcPct val="115227"/>
              </a:lnSpc>
              <a:buNone/>
            </a:pPr>
            <a:r>
              <a:rPr lang="en-US" sz="2925" dirty="0">
                <a:solidFill>
                  <a:srgbClr val="616161"/>
                </a:solidFill>
                <a:latin typeface="Courier New" pitchFamily="34" charset="0"/>
                <a:ea typeface="Courier New" pitchFamily="34" charset="-122"/>
                <a:cs typeface="Courier New" pitchFamily="34" charset="-120"/>
              </a:rPr>
              <a:t>[the problem in one sentence — stated as it is experienced, not as your product's absence]</a:t>
            </a:r>
            <a:endParaRPr lang="en-US" sz="2925" dirty="0"/>
          </a:p>
        </p:txBody>
      </p:sp>
      <p:sp>
        <p:nvSpPr>
          <p:cNvPr id="7" name="Shape 5"/>
          <p:cNvSpPr/>
          <p:nvPr/>
        </p:nvSpPr>
        <p:spPr>
          <a:xfrm>
            <a:off x="914400" y="7812435"/>
            <a:ext cx="5181600" cy="9525"/>
          </a:xfrm>
          <a:prstGeom prst="rect">
            <a:avLst/>
          </a:prstGeom>
          <a:solidFill>
            <a:srgbClr val="DCDCDC"/>
          </a:solidFill>
          <a:ln/>
        </p:spPr>
      </p:sp>
      <p:sp>
        <p:nvSpPr>
          <p:cNvPr id="8" name="Text 6"/>
          <p:cNvSpPr/>
          <p:nvPr/>
        </p:nvSpPr>
        <p:spPr>
          <a:xfrm>
            <a:off x="914400" y="8050560"/>
            <a:ext cx="5699760" cy="304800"/>
          </a:xfrm>
          <a:prstGeom prst="rect">
            <a:avLst/>
          </a:prstGeom>
          <a:noFill/>
          <a:ln/>
        </p:spPr>
        <p:txBody>
          <a:bodyPr wrap="square" lIns="25400" tIns="25400" rIns="25400" bIns="25400" rtlCol="0" anchor="t">
            <a:normAutofit/>
          </a:bodyPr>
          <a:lstStyle/>
          <a:p>
            <a:pPr algn="l" indent="0" marL="0">
              <a:buNone/>
            </a:pPr>
            <a:r>
              <a:rPr lang="en-US" sz="1800" dirty="0">
                <a:solidFill>
                  <a:srgbClr val="808080"/>
                </a:solidFill>
                <a:latin typeface="Courier New" pitchFamily="34" charset="0"/>
                <a:ea typeface="Courier New" pitchFamily="34" charset="-122"/>
                <a:cs typeface="Courier New" pitchFamily="34" charset="-120"/>
              </a:rPr>
              <a:t>who hurts</a:t>
            </a:r>
            <a:endParaRPr lang="en-US" sz="1800" dirty="0"/>
          </a:p>
        </p:txBody>
      </p:sp>
      <p:sp>
        <p:nvSpPr>
          <p:cNvPr id="9" name="Text 7"/>
          <p:cNvSpPr/>
          <p:nvPr/>
        </p:nvSpPr>
        <p:spPr>
          <a:xfrm>
            <a:off x="914400" y="8545860"/>
            <a:ext cx="5337048" cy="864840"/>
          </a:xfrm>
          <a:prstGeom prst="rect">
            <a:avLst/>
          </a:prstGeom>
          <a:noFill/>
          <a:ln/>
        </p:spPr>
        <p:txBody>
          <a:bodyPr wrap="square" lIns="25400" tIns="25400" rIns="25400" bIns="25400" rtlCol="0" anchor="t">
            <a:normAutofit/>
          </a:bodyPr>
          <a:lstStyle/>
          <a:p>
            <a:pPr algn="l" indent="0" marL="0">
              <a:lnSpc>
                <a:spcPct val="122254"/>
              </a:lnSpc>
              <a:buNone/>
            </a:pPr>
            <a:r>
              <a:rPr lang="en-US" sz="2325" dirty="0">
                <a:solidFill>
                  <a:srgbClr val="616161"/>
                </a:solidFill>
                <a:latin typeface="Courier New" pitchFamily="34" charset="0"/>
                <a:ea typeface="Courier New" pitchFamily="34" charset="-122"/>
                <a:cs typeface="Courier New" pitchFamily="34" charset="-120"/>
              </a:rPr>
              <a:t>[a specific role, in a specific kind of company]</a:t>
            </a:r>
            <a:endParaRPr lang="en-US" sz="2325" dirty="0"/>
          </a:p>
        </p:txBody>
      </p:sp>
      <p:sp>
        <p:nvSpPr>
          <p:cNvPr id="10" name="Shape 8"/>
          <p:cNvSpPr/>
          <p:nvPr/>
        </p:nvSpPr>
        <p:spPr>
          <a:xfrm>
            <a:off x="6553200" y="7812435"/>
            <a:ext cx="5181600" cy="9525"/>
          </a:xfrm>
          <a:prstGeom prst="rect">
            <a:avLst/>
          </a:prstGeom>
          <a:solidFill>
            <a:srgbClr val="DCDCDC"/>
          </a:solidFill>
          <a:ln/>
        </p:spPr>
      </p:sp>
      <p:sp>
        <p:nvSpPr>
          <p:cNvPr id="11" name="Text 9"/>
          <p:cNvSpPr/>
          <p:nvPr/>
        </p:nvSpPr>
        <p:spPr>
          <a:xfrm>
            <a:off x="6553200" y="8050560"/>
            <a:ext cx="5699760" cy="304800"/>
          </a:xfrm>
          <a:prstGeom prst="rect">
            <a:avLst/>
          </a:prstGeom>
          <a:noFill/>
          <a:ln/>
        </p:spPr>
        <p:txBody>
          <a:bodyPr wrap="square" lIns="25400" tIns="25400" rIns="25400" bIns="25400" rtlCol="0" anchor="t">
            <a:normAutofit/>
          </a:bodyPr>
          <a:lstStyle/>
          <a:p>
            <a:pPr algn="l" indent="0" marL="0">
              <a:buNone/>
            </a:pPr>
            <a:r>
              <a:rPr lang="en-US" sz="1800" dirty="0">
                <a:solidFill>
                  <a:srgbClr val="808080"/>
                </a:solidFill>
                <a:latin typeface="Courier New" pitchFamily="34" charset="0"/>
                <a:ea typeface="Courier New" pitchFamily="34" charset="-122"/>
                <a:cs typeface="Courier New" pitchFamily="34" charset="-120"/>
              </a:rPr>
              <a:t>how much it costs them</a:t>
            </a:r>
            <a:endParaRPr lang="en-US" sz="1800" dirty="0"/>
          </a:p>
        </p:txBody>
      </p:sp>
      <p:sp>
        <p:nvSpPr>
          <p:cNvPr id="12" name="Text 10"/>
          <p:cNvSpPr/>
          <p:nvPr/>
        </p:nvSpPr>
        <p:spPr>
          <a:xfrm>
            <a:off x="6553200" y="8545860"/>
            <a:ext cx="5699760" cy="451470"/>
          </a:xfrm>
          <a:prstGeom prst="rect">
            <a:avLst/>
          </a:prstGeom>
          <a:noFill/>
          <a:ln/>
        </p:spPr>
        <p:txBody>
          <a:bodyPr wrap="square" lIns="25400" tIns="25400" rIns="25400" bIns="25400" rtlCol="0" anchor="t">
            <a:normAutofit/>
          </a:bodyPr>
          <a:lstStyle/>
          <a:p>
            <a:pPr algn="l" indent="0" marL="0">
              <a:lnSpc>
                <a:spcPct val="122254"/>
              </a:lnSpc>
              <a:buNone/>
            </a:pPr>
            <a:r>
              <a:rPr lang="en-US" sz="2325" dirty="0">
                <a:solidFill>
                  <a:srgbClr val="616161"/>
                </a:solidFill>
                <a:latin typeface="Courier New" pitchFamily="34" charset="0"/>
                <a:ea typeface="Courier New" pitchFamily="34" charset="-122"/>
                <a:cs typeface="Courier New" pitchFamily="34" charset="-120"/>
              </a:rPr>
              <a:t>[quantified, in their units]</a:t>
            </a:r>
            <a:endParaRPr lang="en-US" sz="2325" dirty="0"/>
          </a:p>
        </p:txBody>
      </p:sp>
      <p:sp>
        <p:nvSpPr>
          <p:cNvPr id="13" name="Shape 11"/>
          <p:cNvSpPr/>
          <p:nvPr/>
        </p:nvSpPr>
        <p:spPr>
          <a:xfrm>
            <a:off x="12192000" y="7812435"/>
            <a:ext cx="5181600" cy="9525"/>
          </a:xfrm>
          <a:prstGeom prst="rect">
            <a:avLst/>
          </a:prstGeom>
          <a:solidFill>
            <a:srgbClr val="DCDCDC"/>
          </a:solidFill>
          <a:ln/>
        </p:spPr>
      </p:sp>
      <p:sp>
        <p:nvSpPr>
          <p:cNvPr id="14" name="Text 12"/>
          <p:cNvSpPr/>
          <p:nvPr/>
        </p:nvSpPr>
        <p:spPr>
          <a:xfrm>
            <a:off x="12192000" y="8050560"/>
            <a:ext cx="5699760" cy="304800"/>
          </a:xfrm>
          <a:prstGeom prst="rect">
            <a:avLst/>
          </a:prstGeom>
          <a:noFill/>
          <a:ln/>
        </p:spPr>
        <p:txBody>
          <a:bodyPr wrap="square" lIns="25400" tIns="25400" rIns="25400" bIns="25400" rtlCol="0" anchor="t">
            <a:normAutofit/>
          </a:bodyPr>
          <a:lstStyle/>
          <a:p>
            <a:pPr algn="l" indent="0" marL="0">
              <a:buNone/>
            </a:pPr>
            <a:r>
              <a:rPr lang="en-US" sz="1800" dirty="0">
                <a:solidFill>
                  <a:srgbClr val="808080"/>
                </a:solidFill>
                <a:latin typeface="Courier New" pitchFamily="34" charset="0"/>
                <a:ea typeface="Courier New" pitchFamily="34" charset="-122"/>
                <a:cs typeface="Courier New" pitchFamily="34" charset="-120"/>
              </a:rPr>
              <a:t>how you know</a:t>
            </a:r>
            <a:endParaRPr lang="en-US" sz="1800" dirty="0"/>
          </a:p>
        </p:txBody>
      </p:sp>
      <p:sp>
        <p:nvSpPr>
          <p:cNvPr id="15" name="Text 13"/>
          <p:cNvSpPr/>
          <p:nvPr/>
        </p:nvSpPr>
        <p:spPr>
          <a:xfrm>
            <a:off x="12192000" y="8545860"/>
            <a:ext cx="5337048" cy="864840"/>
          </a:xfrm>
          <a:prstGeom prst="rect">
            <a:avLst/>
          </a:prstGeom>
          <a:noFill/>
          <a:ln/>
        </p:spPr>
        <p:txBody>
          <a:bodyPr wrap="square" lIns="25400" tIns="25400" rIns="25400" bIns="25400" rtlCol="0" anchor="t">
            <a:normAutofit/>
          </a:bodyPr>
          <a:lstStyle/>
          <a:p>
            <a:pPr algn="l" indent="0" marL="0">
              <a:lnSpc>
                <a:spcPct val="122254"/>
              </a:lnSpc>
              <a:buNone/>
            </a:pPr>
            <a:r>
              <a:rPr lang="en-US" sz="2325" dirty="0">
                <a:solidFill>
                  <a:srgbClr val="616161"/>
                </a:solidFill>
                <a:latin typeface="Courier New" pitchFamily="34" charset="0"/>
                <a:ea typeface="Courier New" pitchFamily="34" charset="-122"/>
                <a:cs typeface="Courier New" pitchFamily="34" charset="-120"/>
              </a:rPr>
              <a:t>[the evidence, and its limits]</a:t>
            </a:r>
            <a:endParaRPr lang="en-US" sz="23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14400" y="1409700"/>
            <a:ext cx="16459200" cy="9525"/>
          </a:xfrm>
          <a:prstGeom prst="rect">
            <a:avLst/>
          </a:prstGeom>
          <a:solidFill>
            <a:srgbClr val="DCDCDC"/>
          </a:solidFill>
          <a:ln/>
        </p:spPr>
      </p:sp>
      <p:sp>
        <p:nvSpPr>
          <p:cNvPr id="3" name="Text 1"/>
          <p:cNvSpPr/>
          <p:nvPr/>
        </p:nvSpPr>
        <p:spPr>
          <a:xfrm>
            <a:off x="914400" y="914400"/>
            <a:ext cx="1816700" cy="304800"/>
          </a:xfrm>
          <a:prstGeom prst="rect">
            <a:avLst/>
          </a:prstGeom>
          <a:noFill/>
          <a:ln/>
        </p:spPr>
        <p:txBody>
          <a:bodyPr wrap="square" lIns="25400" tIns="25400" rIns="25400" bIns="25400" rtlCol="0" anchor="t">
            <a:normAutofit/>
          </a:bodyPr>
          <a:lstStyle/>
          <a:p>
            <a:pPr algn="l" indent="0" marL="0">
              <a:buNone/>
            </a:pPr>
            <a:r>
              <a:rPr lang="en-US" sz="1800" dirty="0">
                <a:solidFill>
                  <a:srgbClr val="808080"/>
                </a:solidFill>
                <a:latin typeface="Courier New" pitchFamily="34" charset="0"/>
                <a:ea typeface="Courier New" pitchFamily="34" charset="-122"/>
                <a:cs typeface="Courier New" pitchFamily="34" charset="-120"/>
              </a:rPr>
              <a:t>03 · why now</a:t>
            </a:r>
            <a:endParaRPr lang="en-US" sz="1800" dirty="0"/>
          </a:p>
        </p:txBody>
      </p:sp>
      <p:sp>
        <p:nvSpPr>
          <p:cNvPr id="4" name="Text 2"/>
          <p:cNvSpPr/>
          <p:nvPr/>
        </p:nvSpPr>
        <p:spPr>
          <a:xfrm>
            <a:off x="15446797" y="914400"/>
            <a:ext cx="2119484" cy="304800"/>
          </a:xfrm>
          <a:prstGeom prst="rect">
            <a:avLst/>
          </a:prstGeom>
          <a:noFill/>
          <a:ln/>
        </p:spPr>
        <p:txBody>
          <a:bodyPr wrap="square" lIns="25400" tIns="25400" rIns="25400" bIns="25400" rtlCol="0" anchor="t">
            <a:normAutofit/>
          </a:bodyPr>
          <a:lstStyle/>
          <a:p>
            <a:pPr algn="l" indent="0" marL="0">
              <a:buNone/>
            </a:pPr>
            <a:r>
              <a:rPr lang="en-US" sz="1800" dirty="0">
                <a:solidFill>
                  <a:srgbClr val="808080"/>
                </a:solidFill>
                <a:latin typeface="Courier New" pitchFamily="34" charset="0"/>
                <a:ea typeface="Courier New" pitchFamily="34" charset="-122"/>
                <a:cs typeface="Courier New" pitchFamily="34" charset="-120"/>
              </a:rPr>
              <a:t>[venture name]</a:t>
            </a:r>
            <a:endParaRPr lang="en-US" sz="1800" dirty="0"/>
          </a:p>
        </p:txBody>
      </p:sp>
      <p:sp>
        <p:nvSpPr>
          <p:cNvPr id="5" name="Text 3"/>
          <p:cNvSpPr/>
          <p:nvPr/>
        </p:nvSpPr>
        <p:spPr>
          <a:xfrm>
            <a:off x="914400" y="1876425"/>
            <a:ext cx="18105120" cy="834330"/>
          </a:xfrm>
          <a:prstGeom prst="rect">
            <a:avLst/>
          </a:prstGeom>
          <a:noFill/>
          <a:ln/>
        </p:spPr>
        <p:txBody>
          <a:bodyPr wrap="square" lIns="25400" tIns="25400" rIns="25400" bIns="25400" rtlCol="0" anchor="t">
            <a:normAutofit/>
          </a:bodyPr>
          <a:lstStyle/>
          <a:p>
            <a:pPr algn="l" indent="0" marL="0">
              <a:lnSpc>
                <a:spcPct val="95543"/>
              </a:lnSpc>
              <a:buNone/>
            </a:pPr>
            <a:r>
              <a:rPr lang="en-US" sz="5700" b="1" dirty="0">
                <a:solidFill>
                  <a:srgbClr val="1A1A1A"/>
                </a:solidFill>
                <a:latin typeface="Arial" pitchFamily="34" charset="0"/>
                <a:ea typeface="Arial" pitchFamily="34" charset="-122"/>
                <a:cs typeface="Arial" pitchFamily="34" charset="-120"/>
              </a:rPr>
              <a:t>Why now</a:t>
            </a:r>
            <a:endParaRPr lang="en-US" sz="5700" dirty="0"/>
          </a:p>
        </p:txBody>
      </p:sp>
      <p:sp>
        <p:nvSpPr>
          <p:cNvPr id="6" name="Text 4"/>
          <p:cNvSpPr/>
          <p:nvPr/>
        </p:nvSpPr>
        <p:spPr>
          <a:xfrm>
            <a:off x="914400" y="5279231"/>
            <a:ext cx="8549640" cy="304800"/>
          </a:xfrm>
          <a:prstGeom prst="rect">
            <a:avLst/>
          </a:prstGeom>
          <a:noFill/>
          <a:ln/>
        </p:spPr>
        <p:txBody>
          <a:bodyPr wrap="square" lIns="25400" tIns="25400" rIns="25400" bIns="25400" rtlCol="0" anchor="t">
            <a:normAutofit/>
          </a:bodyPr>
          <a:lstStyle/>
          <a:p>
            <a:pPr algn="l" indent="0" marL="0">
              <a:buNone/>
            </a:pPr>
            <a:r>
              <a:rPr lang="en-US" sz="1800" dirty="0">
                <a:solidFill>
                  <a:srgbClr val="808080"/>
                </a:solidFill>
                <a:latin typeface="Courier New" pitchFamily="34" charset="0"/>
                <a:ea typeface="Courier New" pitchFamily="34" charset="-122"/>
                <a:cs typeface="Courier New" pitchFamily="34" charset="-120"/>
              </a:rPr>
              <a:t>what changed</a:t>
            </a:r>
            <a:endParaRPr lang="en-US" sz="1800" dirty="0"/>
          </a:p>
        </p:txBody>
      </p:sp>
      <p:sp>
        <p:nvSpPr>
          <p:cNvPr id="7" name="Text 5"/>
          <p:cNvSpPr/>
          <p:nvPr/>
        </p:nvSpPr>
        <p:spPr>
          <a:xfrm>
            <a:off x="914400" y="5774531"/>
            <a:ext cx="8005572" cy="1486719"/>
          </a:xfrm>
          <a:prstGeom prst="rect">
            <a:avLst/>
          </a:prstGeom>
          <a:noFill/>
          <a:ln/>
        </p:spPr>
        <p:txBody>
          <a:bodyPr wrap="square" lIns="25400" tIns="25400" rIns="25400" bIns="25400" rtlCol="0" anchor="t">
            <a:normAutofit/>
          </a:bodyPr>
          <a:lstStyle/>
          <a:p>
            <a:pPr algn="l" indent="0" marL="0">
              <a:lnSpc>
                <a:spcPct val="115227"/>
              </a:lnSpc>
              <a:buNone/>
            </a:pPr>
            <a:r>
              <a:rPr lang="en-US" sz="2925" dirty="0">
                <a:solidFill>
                  <a:srgbClr val="616161"/>
                </a:solidFill>
                <a:latin typeface="Courier New" pitchFamily="34" charset="0"/>
                <a:ea typeface="Courier New" pitchFamily="34" charset="-122"/>
                <a:cs typeface="Courier New" pitchFamily="34" charset="-120"/>
              </a:rPr>
              <a:t>[the shift — cost, regulation, platform, or behaviour — with the year it happened]</a:t>
            </a:r>
            <a:endParaRPr lang="en-US" sz="2925" dirty="0"/>
          </a:p>
        </p:txBody>
      </p:sp>
      <p:sp>
        <p:nvSpPr>
          <p:cNvPr id="8" name="Text 6"/>
          <p:cNvSpPr/>
          <p:nvPr/>
        </p:nvSpPr>
        <p:spPr>
          <a:xfrm>
            <a:off x="9601200" y="5279231"/>
            <a:ext cx="8549640" cy="304800"/>
          </a:xfrm>
          <a:prstGeom prst="rect">
            <a:avLst/>
          </a:prstGeom>
          <a:noFill/>
          <a:ln/>
        </p:spPr>
        <p:txBody>
          <a:bodyPr wrap="square" lIns="25400" tIns="25400" rIns="25400" bIns="25400" rtlCol="0" anchor="t">
            <a:normAutofit/>
          </a:bodyPr>
          <a:lstStyle/>
          <a:p>
            <a:pPr algn="l" indent="0" marL="0">
              <a:buNone/>
            </a:pPr>
            <a:r>
              <a:rPr lang="en-US" sz="1800" dirty="0">
                <a:solidFill>
                  <a:srgbClr val="808080"/>
                </a:solidFill>
                <a:latin typeface="Courier New" pitchFamily="34" charset="0"/>
                <a:ea typeface="Courier New" pitchFamily="34" charset="-122"/>
                <a:cs typeface="Courier New" pitchFamily="34" charset="-120"/>
              </a:rPr>
              <a:t>why it could not be done before</a:t>
            </a:r>
            <a:endParaRPr lang="en-US" sz="1800" dirty="0"/>
          </a:p>
        </p:txBody>
      </p:sp>
      <p:sp>
        <p:nvSpPr>
          <p:cNvPr id="9" name="Text 7"/>
          <p:cNvSpPr/>
          <p:nvPr/>
        </p:nvSpPr>
        <p:spPr>
          <a:xfrm>
            <a:off x="9601200" y="5774531"/>
            <a:ext cx="8005572" cy="1003846"/>
          </a:xfrm>
          <a:prstGeom prst="rect">
            <a:avLst/>
          </a:prstGeom>
          <a:noFill/>
          <a:ln/>
        </p:spPr>
        <p:txBody>
          <a:bodyPr wrap="square" lIns="25400" tIns="25400" rIns="25400" bIns="25400" rtlCol="0" anchor="t">
            <a:normAutofit/>
          </a:bodyPr>
          <a:lstStyle/>
          <a:p>
            <a:pPr algn="l" indent="0" marL="0">
              <a:lnSpc>
                <a:spcPct val="115227"/>
              </a:lnSpc>
              <a:buNone/>
            </a:pPr>
            <a:r>
              <a:rPr lang="en-US" sz="2925" dirty="0">
                <a:solidFill>
                  <a:srgbClr val="616161"/>
                </a:solidFill>
                <a:latin typeface="Courier New" pitchFamily="34" charset="0"/>
                <a:ea typeface="Courier New" pitchFamily="34" charset="-122"/>
                <a:cs typeface="Courier New" pitchFamily="34" charset="-120"/>
              </a:rPr>
              <a:t>[the specific thing that used to be prohibitive]</a:t>
            </a:r>
            <a:endParaRPr lang="en-US" sz="29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14400" y="1409700"/>
            <a:ext cx="16459200" cy="9525"/>
          </a:xfrm>
          <a:prstGeom prst="rect">
            <a:avLst/>
          </a:prstGeom>
          <a:solidFill>
            <a:srgbClr val="DCDCDC"/>
          </a:solidFill>
          <a:ln/>
        </p:spPr>
      </p:sp>
      <p:sp>
        <p:nvSpPr>
          <p:cNvPr id="3" name="Text 1"/>
          <p:cNvSpPr/>
          <p:nvPr/>
        </p:nvSpPr>
        <p:spPr>
          <a:xfrm>
            <a:off x="914400" y="914400"/>
            <a:ext cx="1968133" cy="304800"/>
          </a:xfrm>
          <a:prstGeom prst="rect">
            <a:avLst/>
          </a:prstGeom>
          <a:noFill/>
          <a:ln/>
        </p:spPr>
        <p:txBody>
          <a:bodyPr wrap="square" lIns="25400" tIns="25400" rIns="25400" bIns="25400" rtlCol="0" anchor="t">
            <a:normAutofit/>
          </a:bodyPr>
          <a:lstStyle/>
          <a:p>
            <a:pPr algn="l" indent="0" marL="0">
              <a:buNone/>
            </a:pPr>
            <a:r>
              <a:rPr lang="en-US" sz="1800" dirty="0">
                <a:solidFill>
                  <a:srgbClr val="808080"/>
                </a:solidFill>
                <a:latin typeface="Courier New" pitchFamily="34" charset="0"/>
                <a:ea typeface="Courier New" pitchFamily="34" charset="-122"/>
                <a:cs typeface="Courier New" pitchFamily="34" charset="-120"/>
              </a:rPr>
              <a:t>04 · solution</a:t>
            </a:r>
            <a:endParaRPr lang="en-US" sz="1800" dirty="0"/>
          </a:p>
        </p:txBody>
      </p:sp>
      <p:sp>
        <p:nvSpPr>
          <p:cNvPr id="4" name="Text 2"/>
          <p:cNvSpPr/>
          <p:nvPr/>
        </p:nvSpPr>
        <p:spPr>
          <a:xfrm>
            <a:off x="15446797" y="914400"/>
            <a:ext cx="2119484" cy="304800"/>
          </a:xfrm>
          <a:prstGeom prst="rect">
            <a:avLst/>
          </a:prstGeom>
          <a:noFill/>
          <a:ln/>
        </p:spPr>
        <p:txBody>
          <a:bodyPr wrap="square" lIns="25400" tIns="25400" rIns="25400" bIns="25400" rtlCol="0" anchor="t">
            <a:normAutofit/>
          </a:bodyPr>
          <a:lstStyle/>
          <a:p>
            <a:pPr algn="l" indent="0" marL="0">
              <a:buNone/>
            </a:pPr>
            <a:r>
              <a:rPr lang="en-US" sz="1800" dirty="0">
                <a:solidFill>
                  <a:srgbClr val="808080"/>
                </a:solidFill>
                <a:latin typeface="Courier New" pitchFamily="34" charset="0"/>
                <a:ea typeface="Courier New" pitchFamily="34" charset="-122"/>
                <a:cs typeface="Courier New" pitchFamily="34" charset="-120"/>
              </a:rPr>
              <a:t>[venture name]</a:t>
            </a:r>
            <a:endParaRPr lang="en-US" sz="1800" dirty="0"/>
          </a:p>
        </p:txBody>
      </p:sp>
      <p:sp>
        <p:nvSpPr>
          <p:cNvPr id="5" name="Text 3"/>
          <p:cNvSpPr/>
          <p:nvPr/>
        </p:nvSpPr>
        <p:spPr>
          <a:xfrm>
            <a:off x="914400" y="1876425"/>
            <a:ext cx="4336048" cy="834330"/>
          </a:xfrm>
          <a:prstGeom prst="rect">
            <a:avLst/>
          </a:prstGeom>
          <a:noFill/>
          <a:ln/>
        </p:spPr>
        <p:txBody>
          <a:bodyPr wrap="none" lIns="25400" tIns="25400" rIns="25400" bIns="25400" rtlCol="0" anchor="t">
            <a:normAutofit/>
          </a:bodyPr>
          <a:lstStyle/>
          <a:p>
            <a:pPr algn="l" indent="0" marL="0">
              <a:lnSpc>
                <a:spcPct val="95543"/>
              </a:lnSpc>
              <a:buNone/>
            </a:pPr>
            <a:r>
              <a:rPr lang="en-US" sz="5700" b="1" dirty="0">
                <a:solidFill>
                  <a:srgbClr val="1A1A1A"/>
                </a:solidFill>
                <a:latin typeface="Arial" pitchFamily="34" charset="0"/>
                <a:ea typeface="Arial" pitchFamily="34" charset="-122"/>
                <a:cs typeface="Arial" pitchFamily="34" charset="-120"/>
              </a:rPr>
              <a:t>The solution</a:t>
            </a:r>
            <a:endParaRPr lang="en-US" sz="5700" dirty="0"/>
          </a:p>
        </p:txBody>
      </p:sp>
      <p:sp>
        <p:nvSpPr>
          <p:cNvPr id="6" name="Text 4"/>
          <p:cNvSpPr/>
          <p:nvPr/>
        </p:nvSpPr>
        <p:spPr>
          <a:xfrm>
            <a:off x="5770662" y="2243138"/>
            <a:ext cx="6844181" cy="451470"/>
          </a:xfrm>
          <a:prstGeom prst="rect">
            <a:avLst/>
          </a:prstGeom>
          <a:noFill/>
          <a:ln/>
        </p:spPr>
        <p:txBody>
          <a:bodyPr wrap="square" lIns="25400" tIns="25400" rIns="25400" bIns="25400" rtlCol="0" anchor="t">
            <a:normAutofit/>
          </a:bodyPr>
          <a:lstStyle/>
          <a:p>
            <a:pPr algn="l" indent="0" marL="0">
              <a:lnSpc>
                <a:spcPct val="122254"/>
              </a:lnSpc>
              <a:buNone/>
            </a:pPr>
            <a:r>
              <a:rPr lang="en-US" sz="2325" dirty="0">
                <a:solidFill>
                  <a:srgbClr val="616161"/>
                </a:solidFill>
                <a:latin typeface="Courier New" pitchFamily="34" charset="0"/>
                <a:ea typeface="Courier New" pitchFamily="34" charset="-122"/>
                <a:cs typeface="Courier New" pitchFamily="34" charset="-120"/>
              </a:rPr>
              <a:t>[what it is, in one plain sentence]</a:t>
            </a:r>
            <a:endParaRPr lang="en-US" sz="2325" dirty="0"/>
          </a:p>
        </p:txBody>
      </p:sp>
      <p:sp>
        <p:nvSpPr>
          <p:cNvPr id="7" name="Shape 5"/>
          <p:cNvSpPr/>
          <p:nvPr/>
        </p:nvSpPr>
        <p:spPr>
          <a:xfrm>
            <a:off x="914400" y="3129855"/>
            <a:ext cx="16459200" cy="6242745"/>
          </a:xfrm>
          <a:prstGeom prst="rect">
            <a:avLst/>
          </a:prstGeom>
          <a:solidFill>
            <a:srgbClr val="EDEDED"/>
          </a:solidFill>
          <a:ln w="9525">
            <a:solidFill>
              <a:srgbClr val="C4C4C4"/>
            </a:solidFill>
            <a:prstDash val="solid"/>
          </a:ln>
        </p:spPr>
      </p:sp>
      <p:sp>
        <p:nvSpPr>
          <p:cNvPr id="8" name="Shape 6"/>
          <p:cNvSpPr/>
          <p:nvPr/>
        </p:nvSpPr>
        <p:spPr>
          <a:xfrm>
            <a:off x="5678984" y="6032153"/>
            <a:ext cx="6930033" cy="438150"/>
          </a:xfrm>
          <a:prstGeom prst="rect">
            <a:avLst/>
          </a:prstGeom>
          <a:solidFill>
            <a:srgbClr val="FFFFFF"/>
          </a:solidFill>
          <a:ln w="9525">
            <a:solidFill>
              <a:srgbClr val="C4C4C4"/>
            </a:solidFill>
            <a:prstDash val="solid"/>
          </a:ln>
        </p:spPr>
      </p:sp>
      <p:sp>
        <p:nvSpPr>
          <p:cNvPr id="9" name="Text 7"/>
          <p:cNvSpPr/>
          <p:nvPr/>
        </p:nvSpPr>
        <p:spPr>
          <a:xfrm>
            <a:off x="5840909" y="6117878"/>
            <a:ext cx="6814084" cy="304800"/>
          </a:xfrm>
          <a:prstGeom prst="rect">
            <a:avLst/>
          </a:prstGeom>
          <a:noFill/>
          <a:ln/>
        </p:spPr>
        <p:txBody>
          <a:bodyPr wrap="square" lIns="25400" tIns="25400" rIns="25400" bIns="25400" rtlCol="0" anchor="t">
            <a:normAutofit/>
          </a:bodyPr>
          <a:lstStyle/>
          <a:p>
            <a:pPr algn="l" indent="0" marL="0">
              <a:buNone/>
            </a:pPr>
            <a:r>
              <a:rPr lang="en-US" sz="1800" dirty="0">
                <a:solidFill>
                  <a:srgbClr val="616161"/>
                </a:solidFill>
                <a:latin typeface="Courier New" pitchFamily="34" charset="0"/>
                <a:ea typeface="Courier New" pitchFamily="34" charset="-122"/>
                <a:cs typeface="Courier New" pitchFamily="34" charset="-120"/>
              </a:rPr>
              <a:t>product shot 16:9 — a real screen, not a diagram</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14400" y="1409700"/>
            <a:ext cx="16459200" cy="9525"/>
          </a:xfrm>
          <a:prstGeom prst="rect">
            <a:avLst/>
          </a:prstGeom>
          <a:solidFill>
            <a:srgbClr val="DCDCDC"/>
          </a:solidFill>
          <a:ln/>
        </p:spPr>
      </p:sp>
      <p:sp>
        <p:nvSpPr>
          <p:cNvPr id="3" name="Text 1"/>
          <p:cNvSpPr/>
          <p:nvPr/>
        </p:nvSpPr>
        <p:spPr>
          <a:xfrm>
            <a:off x="914400" y="914400"/>
            <a:ext cx="2573700" cy="304800"/>
          </a:xfrm>
          <a:prstGeom prst="rect">
            <a:avLst/>
          </a:prstGeom>
          <a:noFill/>
          <a:ln/>
        </p:spPr>
        <p:txBody>
          <a:bodyPr wrap="square" lIns="25400" tIns="25400" rIns="25400" bIns="25400" rtlCol="0" anchor="t">
            <a:normAutofit/>
          </a:bodyPr>
          <a:lstStyle/>
          <a:p>
            <a:pPr algn="l" indent="0" marL="0">
              <a:buNone/>
            </a:pPr>
            <a:r>
              <a:rPr lang="en-US" sz="1800" dirty="0">
                <a:solidFill>
                  <a:srgbClr val="808080"/>
                </a:solidFill>
                <a:latin typeface="Courier New" pitchFamily="34" charset="0"/>
                <a:ea typeface="Courier New" pitchFamily="34" charset="-122"/>
                <a:cs typeface="Courier New" pitchFamily="34" charset="-120"/>
              </a:rPr>
              <a:t>05 · how it works</a:t>
            </a:r>
            <a:endParaRPr lang="en-US" sz="1800" dirty="0"/>
          </a:p>
        </p:txBody>
      </p:sp>
      <p:sp>
        <p:nvSpPr>
          <p:cNvPr id="4" name="Text 2"/>
          <p:cNvSpPr/>
          <p:nvPr/>
        </p:nvSpPr>
        <p:spPr>
          <a:xfrm>
            <a:off x="15446797" y="914400"/>
            <a:ext cx="2119484" cy="304800"/>
          </a:xfrm>
          <a:prstGeom prst="rect">
            <a:avLst/>
          </a:prstGeom>
          <a:noFill/>
          <a:ln/>
        </p:spPr>
        <p:txBody>
          <a:bodyPr wrap="square" lIns="25400" tIns="25400" rIns="25400" bIns="25400" rtlCol="0" anchor="t">
            <a:normAutofit/>
          </a:bodyPr>
          <a:lstStyle/>
          <a:p>
            <a:pPr algn="l" indent="0" marL="0">
              <a:buNone/>
            </a:pPr>
            <a:r>
              <a:rPr lang="en-US" sz="1800" dirty="0">
                <a:solidFill>
                  <a:srgbClr val="808080"/>
                </a:solidFill>
                <a:latin typeface="Courier New" pitchFamily="34" charset="0"/>
                <a:ea typeface="Courier New" pitchFamily="34" charset="-122"/>
                <a:cs typeface="Courier New" pitchFamily="34" charset="-120"/>
              </a:rPr>
              <a:t>[venture name]</a:t>
            </a:r>
            <a:endParaRPr lang="en-US" sz="1800" dirty="0"/>
          </a:p>
        </p:txBody>
      </p:sp>
      <p:sp>
        <p:nvSpPr>
          <p:cNvPr id="5" name="Text 3"/>
          <p:cNvSpPr/>
          <p:nvPr/>
        </p:nvSpPr>
        <p:spPr>
          <a:xfrm>
            <a:off x="914400" y="1876425"/>
            <a:ext cx="18105120" cy="834330"/>
          </a:xfrm>
          <a:prstGeom prst="rect">
            <a:avLst/>
          </a:prstGeom>
          <a:noFill/>
          <a:ln/>
        </p:spPr>
        <p:txBody>
          <a:bodyPr wrap="square" lIns="25400" tIns="25400" rIns="25400" bIns="25400" rtlCol="0" anchor="t">
            <a:normAutofit/>
          </a:bodyPr>
          <a:lstStyle/>
          <a:p>
            <a:pPr algn="l" indent="0" marL="0">
              <a:lnSpc>
                <a:spcPct val="95543"/>
              </a:lnSpc>
              <a:buNone/>
            </a:pPr>
            <a:r>
              <a:rPr lang="en-US" sz="5700" b="1" dirty="0">
                <a:solidFill>
                  <a:srgbClr val="1A1A1A"/>
                </a:solidFill>
                <a:latin typeface="Arial" pitchFamily="34" charset="0"/>
                <a:ea typeface="Arial" pitchFamily="34" charset="-122"/>
                <a:cs typeface="Arial" pitchFamily="34" charset="-120"/>
              </a:rPr>
              <a:t>How it works</a:t>
            </a:r>
            <a:endParaRPr lang="en-US" sz="5700" dirty="0"/>
          </a:p>
        </p:txBody>
      </p:sp>
      <p:sp>
        <p:nvSpPr>
          <p:cNvPr id="6" name="Shape 4"/>
          <p:cNvSpPr/>
          <p:nvPr/>
        </p:nvSpPr>
        <p:spPr>
          <a:xfrm>
            <a:off x="914400" y="5284961"/>
            <a:ext cx="5181600" cy="9525"/>
          </a:xfrm>
          <a:prstGeom prst="rect">
            <a:avLst/>
          </a:prstGeom>
          <a:solidFill>
            <a:srgbClr val="1A1A1A"/>
          </a:solidFill>
          <a:ln/>
        </p:spPr>
      </p:sp>
      <p:sp>
        <p:nvSpPr>
          <p:cNvPr id="7" name="Text 5"/>
          <p:cNvSpPr/>
          <p:nvPr/>
        </p:nvSpPr>
        <p:spPr>
          <a:xfrm>
            <a:off x="914400" y="5523086"/>
            <a:ext cx="5699760" cy="677168"/>
          </a:xfrm>
          <a:prstGeom prst="rect">
            <a:avLst/>
          </a:prstGeom>
          <a:noFill/>
          <a:ln/>
        </p:spPr>
        <p:txBody>
          <a:bodyPr wrap="square" lIns="25400" tIns="25400" rIns="25400" bIns="25400" rtlCol="0" anchor="t">
            <a:normAutofit/>
          </a:bodyPr>
          <a:lstStyle/>
          <a:p>
            <a:pPr algn="l" indent="0" marL="0">
              <a:lnSpc>
                <a:spcPct val="95857"/>
              </a:lnSpc>
              <a:buNone/>
            </a:pPr>
            <a:r>
              <a:rPr lang="en-US" sz="4575" b="1" dirty="0">
                <a:solidFill>
                  <a:srgbClr val="1A1A1A"/>
                </a:solidFill>
                <a:latin typeface="Arial" pitchFamily="34" charset="0"/>
                <a:ea typeface="Arial" pitchFamily="34" charset="-122"/>
                <a:cs typeface="Arial" pitchFamily="34" charset="-120"/>
              </a:rPr>
              <a:t>1</a:t>
            </a:r>
            <a:endParaRPr lang="en-US" sz="4575" dirty="0"/>
          </a:p>
        </p:txBody>
      </p:sp>
      <p:sp>
        <p:nvSpPr>
          <p:cNvPr id="8" name="Text 6"/>
          <p:cNvSpPr/>
          <p:nvPr/>
        </p:nvSpPr>
        <p:spPr>
          <a:xfrm>
            <a:off x="914400" y="6390754"/>
            <a:ext cx="5337048" cy="864840"/>
          </a:xfrm>
          <a:prstGeom prst="rect">
            <a:avLst/>
          </a:prstGeom>
          <a:noFill/>
          <a:ln/>
        </p:spPr>
        <p:txBody>
          <a:bodyPr wrap="square" lIns="25400" tIns="25400" rIns="25400" bIns="25400" rtlCol="0" anchor="t">
            <a:normAutofit/>
          </a:bodyPr>
          <a:lstStyle/>
          <a:p>
            <a:pPr algn="l" indent="0" marL="0">
              <a:lnSpc>
                <a:spcPct val="122254"/>
              </a:lnSpc>
              <a:buNone/>
            </a:pPr>
            <a:r>
              <a:rPr lang="en-US" sz="2325" dirty="0">
                <a:solidFill>
                  <a:srgbClr val="616161"/>
                </a:solidFill>
                <a:latin typeface="Courier New" pitchFamily="34" charset="0"/>
                <a:ea typeface="Courier New" pitchFamily="34" charset="-122"/>
                <a:cs typeface="Courier New" pitchFamily="34" charset="-120"/>
              </a:rPr>
              <a:t>[what the customer does first]</a:t>
            </a:r>
            <a:endParaRPr lang="en-US" sz="2325" dirty="0"/>
          </a:p>
        </p:txBody>
      </p:sp>
      <p:sp>
        <p:nvSpPr>
          <p:cNvPr id="9" name="Shape 7"/>
          <p:cNvSpPr/>
          <p:nvPr/>
        </p:nvSpPr>
        <p:spPr>
          <a:xfrm>
            <a:off x="6553200" y="5284961"/>
            <a:ext cx="5181600" cy="9525"/>
          </a:xfrm>
          <a:prstGeom prst="rect">
            <a:avLst/>
          </a:prstGeom>
          <a:solidFill>
            <a:srgbClr val="1A1A1A"/>
          </a:solidFill>
          <a:ln/>
        </p:spPr>
      </p:sp>
      <p:sp>
        <p:nvSpPr>
          <p:cNvPr id="10" name="Text 8"/>
          <p:cNvSpPr/>
          <p:nvPr/>
        </p:nvSpPr>
        <p:spPr>
          <a:xfrm>
            <a:off x="6553200" y="5523086"/>
            <a:ext cx="5699760" cy="677168"/>
          </a:xfrm>
          <a:prstGeom prst="rect">
            <a:avLst/>
          </a:prstGeom>
          <a:noFill/>
          <a:ln/>
        </p:spPr>
        <p:txBody>
          <a:bodyPr wrap="square" lIns="25400" tIns="25400" rIns="25400" bIns="25400" rtlCol="0" anchor="t">
            <a:normAutofit/>
          </a:bodyPr>
          <a:lstStyle/>
          <a:p>
            <a:pPr algn="l" indent="0" marL="0">
              <a:lnSpc>
                <a:spcPct val="95857"/>
              </a:lnSpc>
              <a:buNone/>
            </a:pPr>
            <a:r>
              <a:rPr lang="en-US" sz="4575" b="1" dirty="0">
                <a:solidFill>
                  <a:srgbClr val="1A1A1A"/>
                </a:solidFill>
                <a:latin typeface="Arial" pitchFamily="34" charset="0"/>
                <a:ea typeface="Arial" pitchFamily="34" charset="-122"/>
                <a:cs typeface="Arial" pitchFamily="34" charset="-120"/>
              </a:rPr>
              <a:t>2</a:t>
            </a:r>
            <a:endParaRPr lang="en-US" sz="4575" dirty="0"/>
          </a:p>
        </p:txBody>
      </p:sp>
      <p:sp>
        <p:nvSpPr>
          <p:cNvPr id="11" name="Text 9"/>
          <p:cNvSpPr/>
          <p:nvPr/>
        </p:nvSpPr>
        <p:spPr>
          <a:xfrm>
            <a:off x="6553200" y="6390754"/>
            <a:ext cx="5699760" cy="451470"/>
          </a:xfrm>
          <a:prstGeom prst="rect">
            <a:avLst/>
          </a:prstGeom>
          <a:noFill/>
          <a:ln/>
        </p:spPr>
        <p:txBody>
          <a:bodyPr wrap="square" lIns="25400" tIns="25400" rIns="25400" bIns="25400" rtlCol="0" anchor="t">
            <a:normAutofit/>
          </a:bodyPr>
          <a:lstStyle/>
          <a:p>
            <a:pPr algn="l" indent="0" marL="0">
              <a:lnSpc>
                <a:spcPct val="122254"/>
              </a:lnSpc>
              <a:buNone/>
            </a:pPr>
            <a:r>
              <a:rPr lang="en-US" sz="2325" dirty="0">
                <a:solidFill>
                  <a:srgbClr val="616161"/>
                </a:solidFill>
                <a:latin typeface="Courier New" pitchFamily="34" charset="0"/>
                <a:ea typeface="Courier New" pitchFamily="34" charset="-122"/>
                <a:cs typeface="Courier New" pitchFamily="34" charset="-120"/>
              </a:rPr>
              <a:t>[what happens next]</a:t>
            </a:r>
            <a:endParaRPr lang="en-US" sz="2325" dirty="0"/>
          </a:p>
        </p:txBody>
      </p:sp>
      <p:sp>
        <p:nvSpPr>
          <p:cNvPr id="12" name="Shape 10"/>
          <p:cNvSpPr/>
          <p:nvPr/>
        </p:nvSpPr>
        <p:spPr>
          <a:xfrm>
            <a:off x="12192000" y="5284961"/>
            <a:ext cx="5181600" cy="9525"/>
          </a:xfrm>
          <a:prstGeom prst="rect">
            <a:avLst/>
          </a:prstGeom>
          <a:solidFill>
            <a:srgbClr val="1A1A1A"/>
          </a:solidFill>
          <a:ln/>
        </p:spPr>
      </p:sp>
      <p:sp>
        <p:nvSpPr>
          <p:cNvPr id="13" name="Text 11"/>
          <p:cNvSpPr/>
          <p:nvPr/>
        </p:nvSpPr>
        <p:spPr>
          <a:xfrm>
            <a:off x="12192000" y="5523086"/>
            <a:ext cx="5699760" cy="677168"/>
          </a:xfrm>
          <a:prstGeom prst="rect">
            <a:avLst/>
          </a:prstGeom>
          <a:noFill/>
          <a:ln/>
        </p:spPr>
        <p:txBody>
          <a:bodyPr wrap="square" lIns="25400" tIns="25400" rIns="25400" bIns="25400" rtlCol="0" anchor="t">
            <a:normAutofit/>
          </a:bodyPr>
          <a:lstStyle/>
          <a:p>
            <a:pPr algn="l" indent="0" marL="0">
              <a:lnSpc>
                <a:spcPct val="95857"/>
              </a:lnSpc>
              <a:buNone/>
            </a:pPr>
            <a:r>
              <a:rPr lang="en-US" sz="4575" b="1" dirty="0">
                <a:solidFill>
                  <a:srgbClr val="1A1A1A"/>
                </a:solidFill>
                <a:latin typeface="Arial" pitchFamily="34" charset="0"/>
                <a:ea typeface="Arial" pitchFamily="34" charset="-122"/>
                <a:cs typeface="Arial" pitchFamily="34" charset="-120"/>
              </a:rPr>
              <a:t>3</a:t>
            </a:r>
            <a:endParaRPr lang="en-US" sz="4575" dirty="0"/>
          </a:p>
        </p:txBody>
      </p:sp>
      <p:sp>
        <p:nvSpPr>
          <p:cNvPr id="14" name="Text 12"/>
          <p:cNvSpPr/>
          <p:nvPr/>
        </p:nvSpPr>
        <p:spPr>
          <a:xfrm>
            <a:off x="12192000" y="6390754"/>
            <a:ext cx="5699760" cy="451470"/>
          </a:xfrm>
          <a:prstGeom prst="rect">
            <a:avLst/>
          </a:prstGeom>
          <a:noFill/>
          <a:ln/>
        </p:spPr>
        <p:txBody>
          <a:bodyPr wrap="square" lIns="25400" tIns="25400" rIns="25400" bIns="25400" rtlCol="0" anchor="t">
            <a:normAutofit/>
          </a:bodyPr>
          <a:lstStyle/>
          <a:p>
            <a:pPr algn="l" indent="0" marL="0">
              <a:lnSpc>
                <a:spcPct val="122254"/>
              </a:lnSpc>
              <a:buNone/>
            </a:pPr>
            <a:r>
              <a:rPr lang="en-US" sz="2325" dirty="0">
                <a:solidFill>
                  <a:srgbClr val="616161"/>
                </a:solidFill>
                <a:latin typeface="Courier New" pitchFamily="34" charset="0"/>
                <a:ea typeface="Courier New" pitchFamily="34" charset="-122"/>
                <a:cs typeface="Courier New" pitchFamily="34" charset="-120"/>
              </a:rPr>
              <a:t>[the outcome they get]</a:t>
            </a:r>
            <a:endParaRPr lang="en-US" sz="23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14400" y="1409700"/>
            <a:ext cx="16459200" cy="9525"/>
          </a:xfrm>
          <a:prstGeom prst="rect">
            <a:avLst/>
          </a:prstGeom>
          <a:solidFill>
            <a:srgbClr val="DCDCDC"/>
          </a:solidFill>
          <a:ln/>
        </p:spPr>
      </p:sp>
      <p:sp>
        <p:nvSpPr>
          <p:cNvPr id="3" name="Text 1"/>
          <p:cNvSpPr/>
          <p:nvPr/>
        </p:nvSpPr>
        <p:spPr>
          <a:xfrm>
            <a:off x="914400" y="914400"/>
            <a:ext cx="1665350" cy="304800"/>
          </a:xfrm>
          <a:prstGeom prst="rect">
            <a:avLst/>
          </a:prstGeom>
          <a:noFill/>
          <a:ln/>
        </p:spPr>
        <p:txBody>
          <a:bodyPr wrap="square" lIns="25400" tIns="25400" rIns="25400" bIns="25400" rtlCol="0" anchor="t">
            <a:normAutofit/>
          </a:bodyPr>
          <a:lstStyle/>
          <a:p>
            <a:pPr algn="l" indent="0" marL="0">
              <a:buNone/>
            </a:pPr>
            <a:r>
              <a:rPr lang="en-US" sz="1800" dirty="0">
                <a:solidFill>
                  <a:srgbClr val="808080"/>
                </a:solidFill>
                <a:latin typeface="Courier New" pitchFamily="34" charset="0"/>
                <a:ea typeface="Courier New" pitchFamily="34" charset="-122"/>
                <a:cs typeface="Courier New" pitchFamily="34" charset="-120"/>
              </a:rPr>
              <a:t>06 · market</a:t>
            </a:r>
            <a:endParaRPr lang="en-US" sz="1800" dirty="0"/>
          </a:p>
        </p:txBody>
      </p:sp>
      <p:sp>
        <p:nvSpPr>
          <p:cNvPr id="4" name="Text 2"/>
          <p:cNvSpPr/>
          <p:nvPr/>
        </p:nvSpPr>
        <p:spPr>
          <a:xfrm>
            <a:off x="15446797" y="914400"/>
            <a:ext cx="2119484" cy="304800"/>
          </a:xfrm>
          <a:prstGeom prst="rect">
            <a:avLst/>
          </a:prstGeom>
          <a:noFill/>
          <a:ln/>
        </p:spPr>
        <p:txBody>
          <a:bodyPr wrap="square" lIns="25400" tIns="25400" rIns="25400" bIns="25400" rtlCol="0" anchor="t">
            <a:normAutofit/>
          </a:bodyPr>
          <a:lstStyle/>
          <a:p>
            <a:pPr algn="l" indent="0" marL="0">
              <a:buNone/>
            </a:pPr>
            <a:r>
              <a:rPr lang="en-US" sz="1800" dirty="0">
                <a:solidFill>
                  <a:srgbClr val="808080"/>
                </a:solidFill>
                <a:latin typeface="Courier New" pitchFamily="34" charset="0"/>
                <a:ea typeface="Courier New" pitchFamily="34" charset="-122"/>
                <a:cs typeface="Courier New" pitchFamily="34" charset="-120"/>
              </a:rPr>
              <a:t>[venture name]</a:t>
            </a:r>
            <a:endParaRPr lang="en-US" sz="1800" dirty="0"/>
          </a:p>
        </p:txBody>
      </p:sp>
      <p:sp>
        <p:nvSpPr>
          <p:cNvPr id="5" name="Text 3"/>
          <p:cNvSpPr/>
          <p:nvPr/>
        </p:nvSpPr>
        <p:spPr>
          <a:xfrm>
            <a:off x="914400" y="1876425"/>
            <a:ext cx="2464914" cy="834330"/>
          </a:xfrm>
          <a:prstGeom prst="rect">
            <a:avLst/>
          </a:prstGeom>
          <a:noFill/>
          <a:ln/>
        </p:spPr>
        <p:txBody>
          <a:bodyPr wrap="square" lIns="25400" tIns="25400" rIns="25400" bIns="25400" rtlCol="0" anchor="t">
            <a:normAutofit/>
          </a:bodyPr>
          <a:lstStyle/>
          <a:p>
            <a:pPr algn="l" indent="0" marL="0">
              <a:lnSpc>
                <a:spcPct val="95543"/>
              </a:lnSpc>
              <a:buNone/>
            </a:pPr>
            <a:r>
              <a:rPr lang="en-US" sz="5700" b="1" dirty="0">
                <a:solidFill>
                  <a:srgbClr val="1A1A1A"/>
                </a:solidFill>
                <a:latin typeface="Arial" pitchFamily="34" charset="0"/>
                <a:ea typeface="Arial" pitchFamily="34" charset="-122"/>
                <a:cs typeface="Arial" pitchFamily="34" charset="-120"/>
              </a:rPr>
              <a:t>Market</a:t>
            </a:r>
            <a:endParaRPr lang="en-US" sz="5700" dirty="0"/>
          </a:p>
        </p:txBody>
      </p:sp>
      <p:sp>
        <p:nvSpPr>
          <p:cNvPr id="6" name="Shape 4"/>
          <p:cNvSpPr/>
          <p:nvPr/>
        </p:nvSpPr>
        <p:spPr>
          <a:xfrm>
            <a:off x="3460031" y="2093565"/>
            <a:ext cx="1899196" cy="361950"/>
          </a:xfrm>
          <a:prstGeom prst="rect">
            <a:avLst/>
          </a:prstGeom>
          <a:solidFill>
            <a:srgbClr val="EDEDED"/>
          </a:solidFill>
          <a:ln w="9525">
            <a:solidFill>
              <a:srgbClr val="C4C4C4"/>
            </a:solidFill>
            <a:prstDash val="solid"/>
          </a:ln>
        </p:spPr>
      </p:sp>
      <p:sp>
        <p:nvSpPr>
          <p:cNvPr id="7" name="Text 5"/>
          <p:cNvSpPr/>
          <p:nvPr/>
        </p:nvSpPr>
        <p:spPr>
          <a:xfrm>
            <a:off x="3583856" y="2141190"/>
            <a:ext cx="1841465" cy="304800"/>
          </a:xfrm>
          <a:prstGeom prst="rect">
            <a:avLst/>
          </a:prstGeom>
          <a:noFill/>
          <a:ln/>
        </p:spPr>
        <p:txBody>
          <a:bodyPr wrap="square" lIns="25400" tIns="25400" rIns="25400" bIns="25400" rtlCol="0" anchor="t">
            <a:normAutofit/>
          </a:bodyPr>
          <a:lstStyle/>
          <a:p>
            <a:pPr algn="l" indent="0" marL="0">
              <a:buNone/>
            </a:pPr>
            <a:r>
              <a:rPr lang="en-US" sz="1800" dirty="0">
                <a:solidFill>
                  <a:srgbClr val="474747"/>
                </a:solidFill>
                <a:latin typeface="Courier New" pitchFamily="34" charset="0"/>
                <a:ea typeface="Courier New" pitchFamily="34" charset="-122"/>
                <a:cs typeface="Courier New" pitchFamily="34" charset="-120"/>
              </a:rPr>
              <a:t>illustrative</a:t>
            </a:r>
            <a:endParaRPr lang="en-US" sz="1800" dirty="0"/>
          </a:p>
        </p:txBody>
      </p:sp>
      <p:sp>
        <p:nvSpPr>
          <p:cNvPr id="8" name="Shape 6"/>
          <p:cNvSpPr/>
          <p:nvPr/>
        </p:nvSpPr>
        <p:spPr>
          <a:xfrm>
            <a:off x="914400" y="4320034"/>
            <a:ext cx="16459200" cy="9525"/>
          </a:xfrm>
          <a:prstGeom prst="rect">
            <a:avLst/>
          </a:prstGeom>
          <a:solidFill>
            <a:srgbClr val="DCDCDC"/>
          </a:solidFill>
          <a:ln/>
        </p:spPr>
      </p:sp>
      <p:sp>
        <p:nvSpPr>
          <p:cNvPr id="9" name="Text 7"/>
          <p:cNvSpPr/>
          <p:nvPr/>
        </p:nvSpPr>
        <p:spPr>
          <a:xfrm>
            <a:off x="914400" y="4958209"/>
            <a:ext cx="2095500" cy="304800"/>
          </a:xfrm>
          <a:prstGeom prst="rect">
            <a:avLst/>
          </a:prstGeom>
          <a:noFill/>
          <a:ln/>
        </p:spPr>
        <p:txBody>
          <a:bodyPr wrap="square" lIns="25400" tIns="25400" rIns="25400" bIns="25400" rtlCol="0" anchor="t">
            <a:normAutofit/>
          </a:bodyPr>
          <a:lstStyle/>
          <a:p>
            <a:pPr algn="l" indent="0" marL="0">
              <a:buNone/>
            </a:pPr>
            <a:r>
              <a:rPr lang="en-US" sz="1800" dirty="0">
                <a:solidFill>
                  <a:srgbClr val="808080"/>
                </a:solidFill>
                <a:latin typeface="Courier New" pitchFamily="34" charset="0"/>
                <a:ea typeface="Courier New" pitchFamily="34" charset="-122"/>
                <a:cs typeface="Courier New" pitchFamily="34" charset="-120"/>
              </a:rPr>
              <a:t>TAM</a:t>
            </a:r>
            <a:endParaRPr lang="en-US" sz="1800" dirty="0"/>
          </a:p>
        </p:txBody>
      </p:sp>
      <p:sp>
        <p:nvSpPr>
          <p:cNvPr id="10" name="Text 8"/>
          <p:cNvSpPr/>
          <p:nvPr/>
        </p:nvSpPr>
        <p:spPr>
          <a:xfrm>
            <a:off x="3276600" y="4634359"/>
            <a:ext cx="3352800" cy="714375"/>
          </a:xfrm>
          <a:prstGeom prst="rect">
            <a:avLst/>
          </a:prstGeom>
          <a:noFill/>
          <a:ln/>
        </p:spPr>
        <p:txBody>
          <a:bodyPr wrap="square" lIns="25400" tIns="25400" rIns="25400" bIns="25400" rtlCol="0" anchor="t">
            <a:normAutofit/>
          </a:bodyPr>
          <a:lstStyle/>
          <a:p>
            <a:pPr algn="l" indent="0" marL="0">
              <a:buNone/>
            </a:pPr>
            <a:r>
              <a:rPr lang="en-US" sz="4575" b="1" dirty="0">
                <a:solidFill>
                  <a:srgbClr val="616161"/>
                </a:solidFill>
                <a:latin typeface="Courier New" pitchFamily="34" charset="0"/>
                <a:ea typeface="Courier New" pitchFamily="34" charset="-122"/>
                <a:cs typeface="Courier New" pitchFamily="34" charset="-120"/>
              </a:rPr>
              <a:t>[$0.0b]</a:t>
            </a:r>
            <a:endParaRPr lang="en-US" sz="4575" dirty="0"/>
          </a:p>
        </p:txBody>
      </p:sp>
      <p:sp>
        <p:nvSpPr>
          <p:cNvPr id="11" name="Text 9"/>
          <p:cNvSpPr/>
          <p:nvPr/>
        </p:nvSpPr>
        <p:spPr>
          <a:xfrm>
            <a:off x="6781800" y="4896296"/>
            <a:ext cx="10909554" cy="733425"/>
          </a:xfrm>
          <a:prstGeom prst="rect">
            <a:avLst/>
          </a:prstGeom>
          <a:noFill/>
          <a:ln/>
        </p:spPr>
        <p:txBody>
          <a:bodyPr wrap="square" lIns="25400" tIns="25400" rIns="25400" bIns="25400" rtlCol="0" anchor="t">
            <a:normAutofit/>
          </a:bodyPr>
          <a:lstStyle/>
          <a:p>
            <a:pPr algn="l" indent="0" marL="0">
              <a:buNone/>
            </a:pPr>
            <a:r>
              <a:rPr lang="en-US" sz="2325" dirty="0">
                <a:solidFill>
                  <a:srgbClr val="616161"/>
                </a:solidFill>
                <a:latin typeface="Courier New" pitchFamily="34" charset="0"/>
                <a:ea typeface="Courier New" pitchFamily="34" charset="-122"/>
                <a:cs typeface="Courier New" pitchFamily="34" charset="-120"/>
              </a:rPr>
              <a:t>[the arithmetic — count × price × frequency, with the source of each]</a:t>
            </a:r>
            <a:endParaRPr lang="en-US" sz="2325" dirty="0"/>
          </a:p>
        </p:txBody>
      </p:sp>
      <p:sp>
        <p:nvSpPr>
          <p:cNvPr id="12" name="Shape 10"/>
          <p:cNvSpPr/>
          <p:nvPr/>
        </p:nvSpPr>
        <p:spPr>
          <a:xfrm>
            <a:off x="914400" y="5896421"/>
            <a:ext cx="16459200" cy="9525"/>
          </a:xfrm>
          <a:prstGeom prst="rect">
            <a:avLst/>
          </a:prstGeom>
          <a:solidFill>
            <a:srgbClr val="DCDCDC"/>
          </a:solidFill>
          <a:ln/>
        </p:spPr>
      </p:sp>
      <p:sp>
        <p:nvSpPr>
          <p:cNvPr id="13" name="Text 11"/>
          <p:cNvSpPr/>
          <p:nvPr/>
        </p:nvSpPr>
        <p:spPr>
          <a:xfrm>
            <a:off x="914400" y="6534596"/>
            <a:ext cx="2095500" cy="304800"/>
          </a:xfrm>
          <a:prstGeom prst="rect">
            <a:avLst/>
          </a:prstGeom>
          <a:noFill/>
          <a:ln/>
        </p:spPr>
        <p:txBody>
          <a:bodyPr wrap="square" lIns="25400" tIns="25400" rIns="25400" bIns="25400" rtlCol="0" anchor="t">
            <a:normAutofit/>
          </a:bodyPr>
          <a:lstStyle/>
          <a:p>
            <a:pPr algn="l" indent="0" marL="0">
              <a:buNone/>
            </a:pPr>
            <a:r>
              <a:rPr lang="en-US" sz="1800" dirty="0">
                <a:solidFill>
                  <a:srgbClr val="808080"/>
                </a:solidFill>
                <a:latin typeface="Courier New" pitchFamily="34" charset="0"/>
                <a:ea typeface="Courier New" pitchFamily="34" charset="-122"/>
                <a:cs typeface="Courier New" pitchFamily="34" charset="-120"/>
              </a:rPr>
              <a:t>SAM</a:t>
            </a:r>
            <a:endParaRPr lang="en-US" sz="1800" dirty="0"/>
          </a:p>
        </p:txBody>
      </p:sp>
      <p:sp>
        <p:nvSpPr>
          <p:cNvPr id="14" name="Text 12"/>
          <p:cNvSpPr/>
          <p:nvPr/>
        </p:nvSpPr>
        <p:spPr>
          <a:xfrm>
            <a:off x="3276600" y="6210746"/>
            <a:ext cx="3352800" cy="714375"/>
          </a:xfrm>
          <a:prstGeom prst="rect">
            <a:avLst/>
          </a:prstGeom>
          <a:noFill/>
          <a:ln/>
        </p:spPr>
        <p:txBody>
          <a:bodyPr wrap="square" lIns="25400" tIns="25400" rIns="25400" bIns="25400" rtlCol="0" anchor="t">
            <a:normAutofit/>
          </a:bodyPr>
          <a:lstStyle/>
          <a:p>
            <a:pPr algn="l" indent="0" marL="0">
              <a:buNone/>
            </a:pPr>
            <a:r>
              <a:rPr lang="en-US" sz="4575" b="1" dirty="0">
                <a:solidFill>
                  <a:srgbClr val="616161"/>
                </a:solidFill>
                <a:latin typeface="Courier New" pitchFamily="34" charset="0"/>
                <a:ea typeface="Courier New" pitchFamily="34" charset="-122"/>
                <a:cs typeface="Courier New" pitchFamily="34" charset="-120"/>
              </a:rPr>
              <a:t>[$0.0b]</a:t>
            </a:r>
            <a:endParaRPr lang="en-US" sz="4575" dirty="0"/>
          </a:p>
        </p:txBody>
      </p:sp>
      <p:sp>
        <p:nvSpPr>
          <p:cNvPr id="15" name="Text 13"/>
          <p:cNvSpPr/>
          <p:nvPr/>
        </p:nvSpPr>
        <p:spPr>
          <a:xfrm>
            <a:off x="6781800" y="6472684"/>
            <a:ext cx="11650980" cy="385763"/>
          </a:xfrm>
          <a:prstGeom prst="rect">
            <a:avLst/>
          </a:prstGeom>
          <a:noFill/>
          <a:ln/>
        </p:spPr>
        <p:txBody>
          <a:bodyPr wrap="square" lIns="25400" tIns="25400" rIns="25400" bIns="25400" rtlCol="0" anchor="t">
            <a:normAutofit/>
          </a:bodyPr>
          <a:lstStyle/>
          <a:p>
            <a:pPr algn="l" indent="0" marL="0">
              <a:buNone/>
            </a:pPr>
            <a:r>
              <a:rPr lang="en-US" sz="2325" dirty="0">
                <a:solidFill>
                  <a:srgbClr val="616161"/>
                </a:solidFill>
                <a:latin typeface="Courier New" pitchFamily="34" charset="0"/>
                <a:ea typeface="Courier New" pitchFamily="34" charset="-122"/>
                <a:cs typeface="Courier New" pitchFamily="34" charset="-120"/>
              </a:rPr>
              <a:t>[what you can reach with this model, in these geographies]</a:t>
            </a:r>
            <a:endParaRPr lang="en-US" sz="2325" dirty="0"/>
          </a:p>
        </p:txBody>
      </p:sp>
      <p:sp>
        <p:nvSpPr>
          <p:cNvPr id="16" name="Shape 14"/>
          <p:cNvSpPr/>
          <p:nvPr/>
        </p:nvSpPr>
        <p:spPr>
          <a:xfrm>
            <a:off x="914400" y="7191821"/>
            <a:ext cx="16459200" cy="9525"/>
          </a:xfrm>
          <a:prstGeom prst="rect">
            <a:avLst/>
          </a:prstGeom>
          <a:solidFill>
            <a:srgbClr val="DCDCDC"/>
          </a:solidFill>
          <a:ln/>
        </p:spPr>
      </p:sp>
      <p:sp>
        <p:nvSpPr>
          <p:cNvPr id="17" name="Text 15"/>
          <p:cNvSpPr/>
          <p:nvPr/>
        </p:nvSpPr>
        <p:spPr>
          <a:xfrm>
            <a:off x="914400" y="7829996"/>
            <a:ext cx="2095500" cy="304800"/>
          </a:xfrm>
          <a:prstGeom prst="rect">
            <a:avLst/>
          </a:prstGeom>
          <a:noFill/>
          <a:ln/>
        </p:spPr>
        <p:txBody>
          <a:bodyPr wrap="square" lIns="25400" tIns="25400" rIns="25400" bIns="25400" rtlCol="0" anchor="t">
            <a:normAutofit/>
          </a:bodyPr>
          <a:lstStyle/>
          <a:p>
            <a:pPr algn="l" indent="0" marL="0">
              <a:buNone/>
            </a:pPr>
            <a:r>
              <a:rPr lang="en-US" sz="1800" dirty="0">
                <a:solidFill>
                  <a:srgbClr val="808080"/>
                </a:solidFill>
                <a:latin typeface="Courier New" pitchFamily="34" charset="0"/>
                <a:ea typeface="Courier New" pitchFamily="34" charset="-122"/>
                <a:cs typeface="Courier New" pitchFamily="34" charset="-120"/>
              </a:rPr>
              <a:t>SOM</a:t>
            </a:r>
            <a:endParaRPr lang="en-US" sz="1800" dirty="0"/>
          </a:p>
        </p:txBody>
      </p:sp>
      <p:sp>
        <p:nvSpPr>
          <p:cNvPr id="18" name="Text 16"/>
          <p:cNvSpPr/>
          <p:nvPr/>
        </p:nvSpPr>
        <p:spPr>
          <a:xfrm>
            <a:off x="3276600" y="7506146"/>
            <a:ext cx="3352800" cy="714375"/>
          </a:xfrm>
          <a:prstGeom prst="rect">
            <a:avLst/>
          </a:prstGeom>
          <a:noFill/>
          <a:ln/>
        </p:spPr>
        <p:txBody>
          <a:bodyPr wrap="square" lIns="25400" tIns="25400" rIns="25400" bIns="25400" rtlCol="0" anchor="t">
            <a:normAutofit/>
          </a:bodyPr>
          <a:lstStyle/>
          <a:p>
            <a:pPr algn="l" indent="0" marL="0">
              <a:buNone/>
            </a:pPr>
            <a:r>
              <a:rPr lang="en-US" sz="4575" b="1" dirty="0">
                <a:solidFill>
                  <a:srgbClr val="616161"/>
                </a:solidFill>
                <a:latin typeface="Courier New" pitchFamily="34" charset="0"/>
                <a:ea typeface="Courier New" pitchFamily="34" charset="-122"/>
                <a:cs typeface="Courier New" pitchFamily="34" charset="-120"/>
              </a:rPr>
              <a:t>[$0.0m]</a:t>
            </a:r>
            <a:endParaRPr lang="en-US" sz="4575" dirty="0"/>
          </a:p>
        </p:txBody>
      </p:sp>
      <p:sp>
        <p:nvSpPr>
          <p:cNvPr id="19" name="Text 17"/>
          <p:cNvSpPr/>
          <p:nvPr/>
        </p:nvSpPr>
        <p:spPr>
          <a:xfrm>
            <a:off x="6781800" y="7768084"/>
            <a:ext cx="11650980" cy="385763"/>
          </a:xfrm>
          <a:prstGeom prst="rect">
            <a:avLst/>
          </a:prstGeom>
          <a:noFill/>
          <a:ln/>
        </p:spPr>
        <p:txBody>
          <a:bodyPr wrap="square" lIns="25400" tIns="25400" rIns="25400" bIns="25400" rtlCol="0" anchor="t">
            <a:normAutofit/>
          </a:bodyPr>
          <a:lstStyle/>
          <a:p>
            <a:pPr algn="l" indent="0" marL="0">
              <a:buNone/>
            </a:pPr>
            <a:r>
              <a:rPr lang="en-US" sz="2325" dirty="0">
                <a:solidFill>
                  <a:srgbClr val="616161"/>
                </a:solidFill>
                <a:latin typeface="Courier New" pitchFamily="34" charset="0"/>
                <a:ea typeface="Courier New" pitchFamily="34" charset="-122"/>
                <a:cs typeface="Courier New" pitchFamily="34" charset="-120"/>
              </a:rPr>
              <a:t>[what this round buys, over the period it buys it]</a:t>
            </a:r>
            <a:endParaRPr lang="en-US" sz="23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14400" y="1409700"/>
            <a:ext cx="16459200" cy="9525"/>
          </a:xfrm>
          <a:prstGeom prst="rect">
            <a:avLst/>
          </a:prstGeom>
          <a:solidFill>
            <a:srgbClr val="DCDCDC"/>
          </a:solidFill>
          <a:ln/>
        </p:spPr>
      </p:sp>
      <p:sp>
        <p:nvSpPr>
          <p:cNvPr id="3" name="Text 1"/>
          <p:cNvSpPr/>
          <p:nvPr/>
        </p:nvSpPr>
        <p:spPr>
          <a:xfrm>
            <a:off x="914400" y="914400"/>
            <a:ext cx="2876483" cy="304800"/>
          </a:xfrm>
          <a:prstGeom prst="rect">
            <a:avLst/>
          </a:prstGeom>
          <a:noFill/>
          <a:ln/>
        </p:spPr>
        <p:txBody>
          <a:bodyPr wrap="square" lIns="25400" tIns="25400" rIns="25400" bIns="25400" rtlCol="0" anchor="t">
            <a:normAutofit/>
          </a:bodyPr>
          <a:lstStyle/>
          <a:p>
            <a:pPr algn="l" indent="0" marL="0">
              <a:buNone/>
            </a:pPr>
            <a:r>
              <a:rPr lang="en-US" sz="1800" dirty="0">
                <a:solidFill>
                  <a:srgbClr val="808080"/>
                </a:solidFill>
                <a:latin typeface="Courier New" pitchFamily="34" charset="0"/>
                <a:ea typeface="Courier New" pitchFamily="34" charset="-122"/>
                <a:cs typeface="Courier New" pitchFamily="34" charset="-120"/>
              </a:rPr>
              <a:t>07 · business model</a:t>
            </a:r>
            <a:endParaRPr lang="en-US" sz="1800" dirty="0"/>
          </a:p>
        </p:txBody>
      </p:sp>
      <p:sp>
        <p:nvSpPr>
          <p:cNvPr id="4" name="Text 2"/>
          <p:cNvSpPr/>
          <p:nvPr/>
        </p:nvSpPr>
        <p:spPr>
          <a:xfrm>
            <a:off x="15446797" y="914400"/>
            <a:ext cx="2119484" cy="304800"/>
          </a:xfrm>
          <a:prstGeom prst="rect">
            <a:avLst/>
          </a:prstGeom>
          <a:noFill/>
          <a:ln/>
        </p:spPr>
        <p:txBody>
          <a:bodyPr wrap="square" lIns="25400" tIns="25400" rIns="25400" bIns="25400" rtlCol="0" anchor="t">
            <a:normAutofit/>
          </a:bodyPr>
          <a:lstStyle/>
          <a:p>
            <a:pPr algn="l" indent="0" marL="0">
              <a:buNone/>
            </a:pPr>
            <a:r>
              <a:rPr lang="en-US" sz="1800" dirty="0">
                <a:solidFill>
                  <a:srgbClr val="808080"/>
                </a:solidFill>
                <a:latin typeface="Courier New" pitchFamily="34" charset="0"/>
                <a:ea typeface="Courier New" pitchFamily="34" charset="-122"/>
                <a:cs typeface="Courier New" pitchFamily="34" charset="-120"/>
              </a:rPr>
              <a:t>[venture name]</a:t>
            </a:r>
            <a:endParaRPr lang="en-US" sz="1800" dirty="0"/>
          </a:p>
        </p:txBody>
      </p:sp>
      <p:sp>
        <p:nvSpPr>
          <p:cNvPr id="5" name="Text 3"/>
          <p:cNvSpPr/>
          <p:nvPr/>
        </p:nvSpPr>
        <p:spPr>
          <a:xfrm>
            <a:off x="914400" y="1876425"/>
            <a:ext cx="18105120" cy="834330"/>
          </a:xfrm>
          <a:prstGeom prst="rect">
            <a:avLst/>
          </a:prstGeom>
          <a:noFill/>
          <a:ln/>
        </p:spPr>
        <p:txBody>
          <a:bodyPr wrap="square" lIns="25400" tIns="25400" rIns="25400" bIns="25400" rtlCol="0" anchor="t">
            <a:normAutofit/>
          </a:bodyPr>
          <a:lstStyle/>
          <a:p>
            <a:pPr algn="l" indent="0" marL="0">
              <a:lnSpc>
                <a:spcPct val="95543"/>
              </a:lnSpc>
              <a:buNone/>
            </a:pPr>
            <a:r>
              <a:rPr lang="en-US" sz="5700" b="1" dirty="0">
                <a:solidFill>
                  <a:srgbClr val="1A1A1A"/>
                </a:solidFill>
                <a:latin typeface="Arial" pitchFamily="34" charset="0"/>
                <a:ea typeface="Arial" pitchFamily="34" charset="-122"/>
                <a:cs typeface="Arial" pitchFamily="34" charset="-120"/>
              </a:rPr>
              <a:t>Business model</a:t>
            </a:r>
            <a:endParaRPr lang="en-US" sz="5700" dirty="0"/>
          </a:p>
        </p:txBody>
      </p:sp>
      <p:sp>
        <p:nvSpPr>
          <p:cNvPr id="6" name="Shape 4"/>
          <p:cNvSpPr/>
          <p:nvPr/>
        </p:nvSpPr>
        <p:spPr>
          <a:xfrm>
            <a:off x="914400" y="3548955"/>
            <a:ext cx="7772400" cy="9525"/>
          </a:xfrm>
          <a:prstGeom prst="rect">
            <a:avLst/>
          </a:prstGeom>
          <a:solidFill>
            <a:srgbClr val="DCDCDC"/>
          </a:solidFill>
          <a:ln/>
        </p:spPr>
      </p:sp>
      <p:sp>
        <p:nvSpPr>
          <p:cNvPr id="7" name="Text 5"/>
          <p:cNvSpPr/>
          <p:nvPr/>
        </p:nvSpPr>
        <p:spPr>
          <a:xfrm>
            <a:off x="914400" y="3129855"/>
            <a:ext cx="8005572" cy="304800"/>
          </a:xfrm>
          <a:prstGeom prst="rect">
            <a:avLst/>
          </a:prstGeom>
          <a:noFill/>
          <a:ln/>
        </p:spPr>
        <p:txBody>
          <a:bodyPr wrap="square" lIns="25400" tIns="25400" rIns="25400" bIns="25400" rtlCol="0" anchor="t">
            <a:normAutofit/>
          </a:bodyPr>
          <a:lstStyle/>
          <a:p>
            <a:pPr algn="l" indent="0" marL="0">
              <a:buNone/>
            </a:pPr>
            <a:r>
              <a:rPr lang="en-US" sz="1800" dirty="0">
                <a:solidFill>
                  <a:srgbClr val="808080"/>
                </a:solidFill>
                <a:latin typeface="Courier New" pitchFamily="34" charset="0"/>
                <a:ea typeface="Courier New" pitchFamily="34" charset="-122"/>
                <a:cs typeface="Courier New" pitchFamily="34" charset="-120"/>
              </a:rPr>
              <a:t>what you charge</a:t>
            </a:r>
            <a:endParaRPr lang="en-US" sz="1800" dirty="0"/>
          </a:p>
        </p:txBody>
      </p:sp>
      <p:sp>
        <p:nvSpPr>
          <p:cNvPr id="8" name="Text 6"/>
          <p:cNvSpPr/>
          <p:nvPr/>
        </p:nvSpPr>
        <p:spPr>
          <a:xfrm>
            <a:off x="914400" y="3863280"/>
            <a:ext cx="8005572" cy="864840"/>
          </a:xfrm>
          <a:prstGeom prst="rect">
            <a:avLst/>
          </a:prstGeom>
          <a:noFill/>
          <a:ln/>
        </p:spPr>
        <p:txBody>
          <a:bodyPr wrap="square" lIns="25400" tIns="25400" rIns="25400" bIns="25400" rtlCol="0" anchor="t">
            <a:normAutofit/>
          </a:bodyPr>
          <a:lstStyle/>
          <a:p>
            <a:pPr algn="l" indent="0" marL="0">
              <a:lnSpc>
                <a:spcPct val="122254"/>
              </a:lnSpc>
              <a:buNone/>
            </a:pPr>
            <a:r>
              <a:rPr lang="en-US" sz="2325" dirty="0">
                <a:solidFill>
                  <a:srgbClr val="616161"/>
                </a:solidFill>
                <a:latin typeface="Courier New" pitchFamily="34" charset="0"/>
                <a:ea typeface="Courier New" pitchFamily="34" charset="-122"/>
                <a:cs typeface="Courier New" pitchFamily="34" charset="-120"/>
              </a:rPr>
              <a:t>[the unit of value — per seat, per transaction, per outcome]</a:t>
            </a:r>
            <a:endParaRPr lang="en-US" sz="2325" dirty="0"/>
          </a:p>
        </p:txBody>
      </p:sp>
      <p:sp>
        <p:nvSpPr>
          <p:cNvPr id="9" name="Text 7"/>
          <p:cNvSpPr/>
          <p:nvPr/>
        </p:nvSpPr>
        <p:spPr>
          <a:xfrm>
            <a:off x="914400" y="4994821"/>
            <a:ext cx="8005572" cy="864840"/>
          </a:xfrm>
          <a:prstGeom prst="rect">
            <a:avLst/>
          </a:prstGeom>
          <a:noFill/>
          <a:ln/>
        </p:spPr>
        <p:txBody>
          <a:bodyPr wrap="square" lIns="25400" tIns="25400" rIns="25400" bIns="25400" rtlCol="0" anchor="t">
            <a:normAutofit/>
          </a:bodyPr>
          <a:lstStyle/>
          <a:p>
            <a:pPr algn="l" indent="0" marL="0">
              <a:lnSpc>
                <a:spcPct val="122254"/>
              </a:lnSpc>
              <a:buNone/>
            </a:pPr>
            <a:r>
              <a:rPr lang="en-US" sz="2325" dirty="0">
                <a:solidFill>
                  <a:srgbClr val="616161"/>
                </a:solidFill>
                <a:latin typeface="Courier New" pitchFamily="34" charset="0"/>
                <a:ea typeface="Courier New" pitchFamily="34" charset="-122"/>
                <a:cs typeface="Courier New" pitchFamily="34" charset="-120"/>
              </a:rPr>
              <a:t>[price, and why the buyer thinks it is cheap]</a:t>
            </a:r>
            <a:endParaRPr lang="en-US" sz="2325" dirty="0"/>
          </a:p>
        </p:txBody>
      </p:sp>
      <p:sp>
        <p:nvSpPr>
          <p:cNvPr id="10" name="Shape 8"/>
          <p:cNvSpPr/>
          <p:nvPr/>
        </p:nvSpPr>
        <p:spPr>
          <a:xfrm>
            <a:off x="9601200" y="3548955"/>
            <a:ext cx="7772400" cy="9525"/>
          </a:xfrm>
          <a:prstGeom prst="rect">
            <a:avLst/>
          </a:prstGeom>
          <a:solidFill>
            <a:srgbClr val="DCDCDC"/>
          </a:solidFill>
          <a:ln/>
        </p:spPr>
      </p:sp>
      <p:sp>
        <p:nvSpPr>
          <p:cNvPr id="11" name="Text 9"/>
          <p:cNvSpPr/>
          <p:nvPr/>
        </p:nvSpPr>
        <p:spPr>
          <a:xfrm>
            <a:off x="9601200" y="3129855"/>
            <a:ext cx="8005572" cy="304800"/>
          </a:xfrm>
          <a:prstGeom prst="rect">
            <a:avLst/>
          </a:prstGeom>
          <a:noFill/>
          <a:ln/>
        </p:spPr>
        <p:txBody>
          <a:bodyPr wrap="square" lIns="25400" tIns="25400" rIns="25400" bIns="25400" rtlCol="0" anchor="t">
            <a:normAutofit/>
          </a:bodyPr>
          <a:lstStyle/>
          <a:p>
            <a:pPr algn="l" indent="0" marL="0">
              <a:buNone/>
            </a:pPr>
            <a:r>
              <a:rPr lang="en-US" sz="1800" dirty="0">
                <a:solidFill>
                  <a:srgbClr val="808080"/>
                </a:solidFill>
                <a:latin typeface="Courier New" pitchFamily="34" charset="0"/>
                <a:ea typeface="Courier New" pitchFamily="34" charset="-122"/>
                <a:cs typeface="Courier New" pitchFamily="34" charset="-120"/>
              </a:rPr>
              <a:t>unit economics</a:t>
            </a:r>
            <a:endParaRPr lang="en-US" sz="1800" dirty="0"/>
          </a:p>
        </p:txBody>
      </p:sp>
      <p:sp>
        <p:nvSpPr>
          <p:cNvPr id="12" name="Text 10"/>
          <p:cNvSpPr/>
          <p:nvPr/>
        </p:nvSpPr>
        <p:spPr>
          <a:xfrm>
            <a:off x="9601200" y="3863280"/>
            <a:ext cx="6258833" cy="385763"/>
          </a:xfrm>
          <a:prstGeom prst="rect">
            <a:avLst/>
          </a:prstGeom>
          <a:noFill/>
          <a:ln/>
        </p:spPr>
        <p:txBody>
          <a:bodyPr wrap="square" lIns="25400" tIns="25400" rIns="25400" bIns="25400" rtlCol="0" anchor="t">
            <a:normAutofit/>
          </a:bodyPr>
          <a:lstStyle/>
          <a:p>
            <a:pPr algn="l" indent="0" marL="0">
              <a:buNone/>
            </a:pPr>
            <a:r>
              <a:rPr lang="en-US" sz="2325" dirty="0">
                <a:solidFill>
                  <a:srgbClr val="616161"/>
                </a:solidFill>
                <a:latin typeface="Courier New" pitchFamily="34" charset="0"/>
                <a:ea typeface="Courier New" pitchFamily="34" charset="-122"/>
                <a:cs typeface="Courier New" pitchFamily="34" charset="-120"/>
              </a:rPr>
              <a:t>gross margin</a:t>
            </a:r>
            <a:endParaRPr lang="en-US" sz="2325" dirty="0"/>
          </a:p>
        </p:txBody>
      </p:sp>
      <p:sp>
        <p:nvSpPr>
          <p:cNvPr id="13" name="Text 11"/>
          <p:cNvSpPr/>
          <p:nvPr/>
        </p:nvSpPr>
        <p:spPr>
          <a:xfrm>
            <a:off x="15595848" y="3863280"/>
            <a:ext cx="1955527" cy="385763"/>
          </a:xfrm>
          <a:prstGeom prst="rect">
            <a:avLst/>
          </a:prstGeom>
          <a:noFill/>
          <a:ln/>
        </p:spPr>
        <p:txBody>
          <a:bodyPr wrap="square" lIns="25400" tIns="25400" rIns="25400" bIns="25400" rtlCol="0" anchor="t">
            <a:normAutofit/>
          </a:bodyPr>
          <a:lstStyle/>
          <a:p>
            <a:pPr algn="l" indent="0" marL="0">
              <a:buNone/>
            </a:pPr>
            <a:r>
              <a:rPr lang="en-US" sz="2325" dirty="0">
                <a:solidFill>
                  <a:srgbClr val="616161"/>
                </a:solidFill>
                <a:latin typeface="Courier New" pitchFamily="34" charset="0"/>
                <a:ea typeface="Courier New" pitchFamily="34" charset="-122"/>
                <a:cs typeface="Courier New" pitchFamily="34" charset="-120"/>
              </a:rPr>
              <a:t>[00%]</a:t>
            </a:r>
            <a:endParaRPr lang="en-US" sz="2325" dirty="0"/>
          </a:p>
        </p:txBody>
      </p:sp>
      <p:sp>
        <p:nvSpPr>
          <p:cNvPr id="14" name="Text 12"/>
          <p:cNvSpPr/>
          <p:nvPr/>
        </p:nvSpPr>
        <p:spPr>
          <a:xfrm>
            <a:off x="9601200" y="4439543"/>
            <a:ext cx="6258833" cy="385763"/>
          </a:xfrm>
          <a:prstGeom prst="rect">
            <a:avLst/>
          </a:prstGeom>
          <a:noFill/>
          <a:ln/>
        </p:spPr>
        <p:txBody>
          <a:bodyPr wrap="square" lIns="25400" tIns="25400" rIns="25400" bIns="25400" rtlCol="0" anchor="t">
            <a:normAutofit/>
          </a:bodyPr>
          <a:lstStyle/>
          <a:p>
            <a:pPr algn="l" indent="0" marL="0">
              <a:buNone/>
            </a:pPr>
            <a:r>
              <a:rPr lang="en-US" sz="2325" dirty="0">
                <a:solidFill>
                  <a:srgbClr val="616161"/>
                </a:solidFill>
                <a:latin typeface="Courier New" pitchFamily="34" charset="0"/>
                <a:ea typeface="Courier New" pitchFamily="34" charset="-122"/>
                <a:cs typeface="Courier New" pitchFamily="34" charset="-120"/>
              </a:rPr>
              <a:t>CAC</a:t>
            </a:r>
            <a:endParaRPr lang="en-US" sz="2325" dirty="0"/>
          </a:p>
        </p:txBody>
      </p:sp>
      <p:sp>
        <p:nvSpPr>
          <p:cNvPr id="15" name="Text 13"/>
          <p:cNvSpPr/>
          <p:nvPr/>
        </p:nvSpPr>
        <p:spPr>
          <a:xfrm>
            <a:off x="15595848" y="4439543"/>
            <a:ext cx="1955527" cy="385763"/>
          </a:xfrm>
          <a:prstGeom prst="rect">
            <a:avLst/>
          </a:prstGeom>
          <a:noFill/>
          <a:ln/>
        </p:spPr>
        <p:txBody>
          <a:bodyPr wrap="square" lIns="25400" tIns="25400" rIns="25400" bIns="25400" rtlCol="0" anchor="t">
            <a:normAutofit/>
          </a:bodyPr>
          <a:lstStyle/>
          <a:p>
            <a:pPr algn="l" indent="0" marL="0">
              <a:buNone/>
            </a:pPr>
            <a:r>
              <a:rPr lang="en-US" sz="2325" dirty="0">
                <a:solidFill>
                  <a:srgbClr val="616161"/>
                </a:solidFill>
                <a:latin typeface="Courier New" pitchFamily="34" charset="0"/>
                <a:ea typeface="Courier New" pitchFamily="34" charset="-122"/>
                <a:cs typeface="Courier New" pitchFamily="34" charset="-120"/>
              </a:rPr>
              <a:t>[$0]</a:t>
            </a:r>
            <a:endParaRPr lang="en-US" sz="2325" dirty="0"/>
          </a:p>
        </p:txBody>
      </p:sp>
      <p:sp>
        <p:nvSpPr>
          <p:cNvPr id="16" name="Text 14"/>
          <p:cNvSpPr/>
          <p:nvPr/>
        </p:nvSpPr>
        <p:spPr>
          <a:xfrm>
            <a:off x="9601200" y="5015805"/>
            <a:ext cx="6258833" cy="385763"/>
          </a:xfrm>
          <a:prstGeom prst="rect">
            <a:avLst/>
          </a:prstGeom>
          <a:noFill/>
          <a:ln/>
        </p:spPr>
        <p:txBody>
          <a:bodyPr wrap="square" lIns="25400" tIns="25400" rIns="25400" bIns="25400" rtlCol="0" anchor="t">
            <a:normAutofit/>
          </a:bodyPr>
          <a:lstStyle/>
          <a:p>
            <a:pPr algn="l" indent="0" marL="0">
              <a:buNone/>
            </a:pPr>
            <a:r>
              <a:rPr lang="en-US" sz="2325" dirty="0">
                <a:solidFill>
                  <a:srgbClr val="616161"/>
                </a:solidFill>
                <a:latin typeface="Courier New" pitchFamily="34" charset="0"/>
                <a:ea typeface="Courier New" pitchFamily="34" charset="-122"/>
                <a:cs typeface="Courier New" pitchFamily="34" charset="-120"/>
              </a:rPr>
              <a:t>payback</a:t>
            </a:r>
            <a:endParaRPr lang="en-US" sz="2325" dirty="0"/>
          </a:p>
        </p:txBody>
      </p:sp>
      <p:sp>
        <p:nvSpPr>
          <p:cNvPr id="17" name="Text 15"/>
          <p:cNvSpPr/>
          <p:nvPr/>
        </p:nvSpPr>
        <p:spPr>
          <a:xfrm>
            <a:off x="15595848" y="5015805"/>
            <a:ext cx="1955527" cy="385763"/>
          </a:xfrm>
          <a:prstGeom prst="rect">
            <a:avLst/>
          </a:prstGeom>
          <a:noFill/>
          <a:ln/>
        </p:spPr>
        <p:txBody>
          <a:bodyPr wrap="square" lIns="25400" tIns="25400" rIns="25400" bIns="25400" rtlCol="0" anchor="t">
            <a:normAutofit/>
          </a:bodyPr>
          <a:lstStyle/>
          <a:p>
            <a:pPr algn="l" indent="0" marL="0">
              <a:buNone/>
            </a:pPr>
            <a:r>
              <a:rPr lang="en-US" sz="2325" dirty="0">
                <a:solidFill>
                  <a:srgbClr val="616161"/>
                </a:solidFill>
                <a:latin typeface="Courier New" pitchFamily="34" charset="0"/>
                <a:ea typeface="Courier New" pitchFamily="34" charset="-122"/>
                <a:cs typeface="Courier New" pitchFamily="34" charset="-120"/>
              </a:rPr>
              <a:t>[0 months]</a:t>
            </a:r>
            <a:endParaRPr lang="en-US" sz="2325" dirty="0"/>
          </a:p>
        </p:txBody>
      </p:sp>
      <p:sp>
        <p:nvSpPr>
          <p:cNvPr id="18" name="Text 16"/>
          <p:cNvSpPr/>
          <p:nvPr/>
        </p:nvSpPr>
        <p:spPr>
          <a:xfrm>
            <a:off x="9601200" y="5592068"/>
            <a:ext cx="6258833" cy="385763"/>
          </a:xfrm>
          <a:prstGeom prst="rect">
            <a:avLst/>
          </a:prstGeom>
          <a:noFill/>
          <a:ln/>
        </p:spPr>
        <p:txBody>
          <a:bodyPr wrap="square" lIns="25400" tIns="25400" rIns="25400" bIns="25400" rtlCol="0" anchor="t">
            <a:normAutofit/>
          </a:bodyPr>
          <a:lstStyle/>
          <a:p>
            <a:pPr algn="l" indent="0" marL="0">
              <a:buNone/>
            </a:pPr>
            <a:r>
              <a:rPr lang="en-US" sz="2325" dirty="0">
                <a:solidFill>
                  <a:srgbClr val="616161"/>
                </a:solidFill>
                <a:latin typeface="Courier New" pitchFamily="34" charset="0"/>
                <a:ea typeface="Courier New" pitchFamily="34" charset="-122"/>
                <a:cs typeface="Courier New" pitchFamily="34" charset="-120"/>
              </a:rPr>
              <a:t>net revenue retention</a:t>
            </a:r>
            <a:endParaRPr lang="en-US" sz="2325" dirty="0"/>
          </a:p>
        </p:txBody>
      </p:sp>
      <p:sp>
        <p:nvSpPr>
          <p:cNvPr id="19" name="Text 17"/>
          <p:cNvSpPr/>
          <p:nvPr/>
        </p:nvSpPr>
        <p:spPr>
          <a:xfrm>
            <a:off x="15595848" y="5592068"/>
            <a:ext cx="1955527" cy="385763"/>
          </a:xfrm>
          <a:prstGeom prst="rect">
            <a:avLst/>
          </a:prstGeom>
          <a:noFill/>
          <a:ln/>
        </p:spPr>
        <p:txBody>
          <a:bodyPr wrap="square" lIns="25400" tIns="25400" rIns="25400" bIns="25400" rtlCol="0" anchor="t">
            <a:normAutofit/>
          </a:bodyPr>
          <a:lstStyle/>
          <a:p>
            <a:pPr algn="l" indent="0" marL="0">
              <a:buNone/>
            </a:pPr>
            <a:r>
              <a:rPr lang="en-US" sz="2325" dirty="0">
                <a:solidFill>
                  <a:srgbClr val="616161"/>
                </a:solidFill>
                <a:latin typeface="Courier New" pitchFamily="34" charset="0"/>
                <a:ea typeface="Courier New" pitchFamily="34" charset="-122"/>
                <a:cs typeface="Courier New" pitchFamily="34" charset="-120"/>
              </a:rPr>
              <a:t>[000%]</a:t>
            </a:r>
            <a:endParaRPr lang="en-US" sz="232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14400" y="1409700"/>
            <a:ext cx="16459200" cy="9525"/>
          </a:xfrm>
          <a:prstGeom prst="rect">
            <a:avLst/>
          </a:prstGeom>
          <a:solidFill>
            <a:srgbClr val="DCDCDC"/>
          </a:solidFill>
          <a:ln/>
        </p:spPr>
      </p:sp>
      <p:sp>
        <p:nvSpPr>
          <p:cNvPr id="3" name="Text 1"/>
          <p:cNvSpPr/>
          <p:nvPr/>
        </p:nvSpPr>
        <p:spPr>
          <a:xfrm>
            <a:off x="914400" y="914400"/>
            <a:ext cx="2573700" cy="304800"/>
          </a:xfrm>
          <a:prstGeom prst="rect">
            <a:avLst/>
          </a:prstGeom>
          <a:noFill/>
          <a:ln/>
        </p:spPr>
        <p:txBody>
          <a:bodyPr wrap="square" lIns="25400" tIns="25400" rIns="25400" bIns="25400" rtlCol="0" anchor="t">
            <a:normAutofit/>
          </a:bodyPr>
          <a:lstStyle/>
          <a:p>
            <a:pPr algn="l" indent="0" marL="0">
              <a:buNone/>
            </a:pPr>
            <a:r>
              <a:rPr lang="en-US" sz="1800" dirty="0">
                <a:solidFill>
                  <a:srgbClr val="808080"/>
                </a:solidFill>
                <a:latin typeface="Courier New" pitchFamily="34" charset="0"/>
                <a:ea typeface="Courier New" pitchFamily="34" charset="-122"/>
                <a:cs typeface="Courier New" pitchFamily="34" charset="-120"/>
              </a:rPr>
              <a:t>08 · go-to-market</a:t>
            </a:r>
            <a:endParaRPr lang="en-US" sz="1800" dirty="0"/>
          </a:p>
        </p:txBody>
      </p:sp>
      <p:sp>
        <p:nvSpPr>
          <p:cNvPr id="4" name="Text 2"/>
          <p:cNvSpPr/>
          <p:nvPr/>
        </p:nvSpPr>
        <p:spPr>
          <a:xfrm>
            <a:off x="15446797" y="914400"/>
            <a:ext cx="2119484" cy="304800"/>
          </a:xfrm>
          <a:prstGeom prst="rect">
            <a:avLst/>
          </a:prstGeom>
          <a:noFill/>
          <a:ln/>
        </p:spPr>
        <p:txBody>
          <a:bodyPr wrap="square" lIns="25400" tIns="25400" rIns="25400" bIns="25400" rtlCol="0" anchor="t">
            <a:normAutofit/>
          </a:bodyPr>
          <a:lstStyle/>
          <a:p>
            <a:pPr algn="l" indent="0" marL="0">
              <a:buNone/>
            </a:pPr>
            <a:r>
              <a:rPr lang="en-US" sz="1800" dirty="0">
                <a:solidFill>
                  <a:srgbClr val="808080"/>
                </a:solidFill>
                <a:latin typeface="Courier New" pitchFamily="34" charset="0"/>
                <a:ea typeface="Courier New" pitchFamily="34" charset="-122"/>
                <a:cs typeface="Courier New" pitchFamily="34" charset="-120"/>
              </a:rPr>
              <a:t>[venture name]</a:t>
            </a:r>
            <a:endParaRPr lang="en-US" sz="1800" dirty="0"/>
          </a:p>
        </p:txBody>
      </p:sp>
      <p:sp>
        <p:nvSpPr>
          <p:cNvPr id="5" name="Text 3"/>
          <p:cNvSpPr/>
          <p:nvPr/>
        </p:nvSpPr>
        <p:spPr>
          <a:xfrm>
            <a:off x="914400" y="1876425"/>
            <a:ext cx="18105120" cy="834330"/>
          </a:xfrm>
          <a:prstGeom prst="rect">
            <a:avLst/>
          </a:prstGeom>
          <a:noFill/>
          <a:ln/>
        </p:spPr>
        <p:txBody>
          <a:bodyPr wrap="square" lIns="25400" tIns="25400" rIns="25400" bIns="25400" rtlCol="0" anchor="t">
            <a:normAutofit/>
          </a:bodyPr>
          <a:lstStyle/>
          <a:p>
            <a:pPr algn="l" indent="0" marL="0">
              <a:lnSpc>
                <a:spcPct val="95543"/>
              </a:lnSpc>
              <a:buNone/>
            </a:pPr>
            <a:r>
              <a:rPr lang="en-US" sz="5700" b="1" dirty="0">
                <a:solidFill>
                  <a:srgbClr val="1A1A1A"/>
                </a:solidFill>
                <a:latin typeface="Arial" pitchFamily="34" charset="0"/>
                <a:ea typeface="Arial" pitchFamily="34" charset="-122"/>
                <a:cs typeface="Arial" pitchFamily="34" charset="-120"/>
              </a:rPr>
              <a:t>Go-to-market</a:t>
            </a:r>
            <a:endParaRPr lang="en-US" sz="5700" dirty="0"/>
          </a:p>
        </p:txBody>
      </p:sp>
      <p:sp>
        <p:nvSpPr>
          <p:cNvPr id="6" name="Shape 4"/>
          <p:cNvSpPr/>
          <p:nvPr/>
        </p:nvSpPr>
        <p:spPr>
          <a:xfrm>
            <a:off x="914400" y="5069160"/>
            <a:ext cx="5181600" cy="2364060"/>
          </a:xfrm>
          <a:prstGeom prst="rect">
            <a:avLst/>
          </a:prstGeom>
          <a:ln w="9525">
            <a:solidFill>
              <a:srgbClr val="C4C4C4"/>
            </a:solidFill>
            <a:prstDash val="solid"/>
          </a:ln>
        </p:spPr>
      </p:sp>
      <p:sp>
        <p:nvSpPr>
          <p:cNvPr id="7" name="Shape 5"/>
          <p:cNvSpPr/>
          <p:nvPr/>
        </p:nvSpPr>
        <p:spPr>
          <a:xfrm>
            <a:off x="1228725" y="5383485"/>
            <a:ext cx="1073423" cy="361950"/>
          </a:xfrm>
          <a:prstGeom prst="rect">
            <a:avLst/>
          </a:prstGeom>
          <a:solidFill>
            <a:srgbClr val="EDEDED"/>
          </a:solidFill>
          <a:ln w="9525">
            <a:solidFill>
              <a:srgbClr val="C4C4C4"/>
            </a:solidFill>
            <a:prstDash val="solid"/>
          </a:ln>
        </p:spPr>
      </p:sp>
      <p:sp>
        <p:nvSpPr>
          <p:cNvPr id="8" name="Text 6"/>
          <p:cNvSpPr/>
          <p:nvPr/>
        </p:nvSpPr>
        <p:spPr>
          <a:xfrm>
            <a:off x="1352550" y="5431110"/>
            <a:ext cx="933115" cy="304800"/>
          </a:xfrm>
          <a:prstGeom prst="rect">
            <a:avLst/>
          </a:prstGeom>
          <a:noFill/>
          <a:ln/>
        </p:spPr>
        <p:txBody>
          <a:bodyPr wrap="square" lIns="25400" tIns="25400" rIns="25400" bIns="25400" rtlCol="0" anchor="t">
            <a:normAutofit/>
          </a:bodyPr>
          <a:lstStyle/>
          <a:p>
            <a:pPr algn="l" indent="0" marL="0">
              <a:buNone/>
            </a:pPr>
            <a:r>
              <a:rPr lang="en-US" sz="1800" dirty="0">
                <a:solidFill>
                  <a:srgbClr val="474747"/>
                </a:solidFill>
                <a:latin typeface="Courier New" pitchFamily="34" charset="0"/>
                <a:ea typeface="Courier New" pitchFamily="34" charset="-122"/>
                <a:cs typeface="Courier New" pitchFamily="34" charset="-120"/>
              </a:rPr>
              <a:t>proven</a:t>
            </a:r>
            <a:endParaRPr lang="en-US" sz="1800" dirty="0"/>
          </a:p>
        </p:txBody>
      </p:sp>
      <p:sp>
        <p:nvSpPr>
          <p:cNvPr id="9" name="Text 7"/>
          <p:cNvSpPr/>
          <p:nvPr/>
        </p:nvSpPr>
        <p:spPr>
          <a:xfrm>
            <a:off x="1228725" y="5974035"/>
            <a:ext cx="4689539" cy="864840"/>
          </a:xfrm>
          <a:prstGeom prst="rect">
            <a:avLst/>
          </a:prstGeom>
          <a:noFill/>
          <a:ln/>
        </p:spPr>
        <p:txBody>
          <a:bodyPr wrap="square" lIns="25400" tIns="25400" rIns="25400" bIns="25400" rtlCol="0" anchor="t">
            <a:normAutofit/>
          </a:bodyPr>
          <a:lstStyle/>
          <a:p>
            <a:pPr algn="l" indent="0" marL="0">
              <a:lnSpc>
                <a:spcPct val="122254"/>
              </a:lnSpc>
              <a:buNone/>
            </a:pPr>
            <a:r>
              <a:rPr lang="en-US" sz="2325" dirty="0">
                <a:solidFill>
                  <a:srgbClr val="616161"/>
                </a:solidFill>
                <a:latin typeface="Courier New" pitchFamily="34" charset="0"/>
                <a:ea typeface="Courier New" pitchFamily="34" charset="-122"/>
                <a:cs typeface="Courier New" pitchFamily="34" charset="-120"/>
              </a:rPr>
              <a:t>[the channel that already works, with its numbers]</a:t>
            </a:r>
            <a:endParaRPr lang="en-US" sz="2325" dirty="0"/>
          </a:p>
        </p:txBody>
      </p:sp>
      <p:sp>
        <p:nvSpPr>
          <p:cNvPr id="10" name="Shape 8"/>
          <p:cNvSpPr/>
          <p:nvPr/>
        </p:nvSpPr>
        <p:spPr>
          <a:xfrm>
            <a:off x="6553200" y="5069160"/>
            <a:ext cx="5181600" cy="2364060"/>
          </a:xfrm>
          <a:prstGeom prst="rect">
            <a:avLst/>
          </a:prstGeom>
          <a:ln w="9525">
            <a:solidFill>
              <a:srgbClr val="DCDCDC"/>
            </a:solidFill>
            <a:prstDash val="solid"/>
          </a:ln>
        </p:spPr>
      </p:sp>
      <p:sp>
        <p:nvSpPr>
          <p:cNvPr id="11" name="Text 9"/>
          <p:cNvSpPr/>
          <p:nvPr/>
        </p:nvSpPr>
        <p:spPr>
          <a:xfrm>
            <a:off x="6867525" y="5383485"/>
            <a:ext cx="5008245" cy="304800"/>
          </a:xfrm>
          <a:prstGeom prst="rect">
            <a:avLst/>
          </a:prstGeom>
          <a:noFill/>
          <a:ln/>
        </p:spPr>
        <p:txBody>
          <a:bodyPr wrap="square" lIns="25400" tIns="25400" rIns="25400" bIns="25400" rtlCol="0" anchor="t">
            <a:normAutofit/>
          </a:bodyPr>
          <a:lstStyle/>
          <a:p>
            <a:pPr algn="l" indent="0" marL="0">
              <a:buNone/>
            </a:pPr>
            <a:r>
              <a:rPr lang="en-US" sz="1800" dirty="0">
                <a:solidFill>
                  <a:srgbClr val="808080"/>
                </a:solidFill>
                <a:latin typeface="Courier New" pitchFamily="34" charset="0"/>
                <a:ea typeface="Courier New" pitchFamily="34" charset="-122"/>
                <a:cs typeface="Courier New" pitchFamily="34" charset="-120"/>
              </a:rPr>
              <a:t>hypothesis</a:t>
            </a:r>
            <a:endParaRPr lang="en-US" sz="1800" dirty="0"/>
          </a:p>
        </p:txBody>
      </p:sp>
      <p:sp>
        <p:nvSpPr>
          <p:cNvPr id="12" name="Text 10"/>
          <p:cNvSpPr/>
          <p:nvPr/>
        </p:nvSpPr>
        <p:spPr>
          <a:xfrm>
            <a:off x="6867525" y="5878785"/>
            <a:ext cx="4689539" cy="1278210"/>
          </a:xfrm>
          <a:prstGeom prst="rect">
            <a:avLst/>
          </a:prstGeom>
          <a:noFill/>
          <a:ln/>
        </p:spPr>
        <p:txBody>
          <a:bodyPr wrap="square" lIns="25400" tIns="25400" rIns="25400" bIns="25400" rtlCol="0" anchor="t">
            <a:normAutofit/>
          </a:bodyPr>
          <a:lstStyle/>
          <a:p>
            <a:pPr algn="l" indent="0" marL="0">
              <a:lnSpc>
                <a:spcPct val="122254"/>
              </a:lnSpc>
              <a:buNone/>
            </a:pPr>
            <a:r>
              <a:rPr lang="en-US" sz="2325" dirty="0">
                <a:solidFill>
                  <a:srgbClr val="616161"/>
                </a:solidFill>
                <a:latin typeface="Courier New" pitchFamily="34" charset="0"/>
                <a:ea typeface="Courier New" pitchFamily="34" charset="-122"/>
                <a:cs typeface="Courier New" pitchFamily="34" charset="-120"/>
              </a:rPr>
              <a:t>[the next channel, and the test that would prove it]</a:t>
            </a:r>
            <a:endParaRPr lang="en-US" sz="2325" dirty="0"/>
          </a:p>
        </p:txBody>
      </p:sp>
      <p:sp>
        <p:nvSpPr>
          <p:cNvPr id="13" name="Shape 11"/>
          <p:cNvSpPr/>
          <p:nvPr/>
        </p:nvSpPr>
        <p:spPr>
          <a:xfrm>
            <a:off x="12192000" y="5069160"/>
            <a:ext cx="5181600" cy="2364060"/>
          </a:xfrm>
          <a:prstGeom prst="rect">
            <a:avLst/>
          </a:prstGeom>
          <a:ln w="9525">
            <a:solidFill>
              <a:srgbClr val="DCDCDC"/>
            </a:solidFill>
            <a:prstDash val="solid"/>
          </a:ln>
        </p:spPr>
      </p:sp>
      <p:sp>
        <p:nvSpPr>
          <p:cNvPr id="14" name="Text 12"/>
          <p:cNvSpPr/>
          <p:nvPr/>
        </p:nvSpPr>
        <p:spPr>
          <a:xfrm>
            <a:off x="12506325" y="5383485"/>
            <a:ext cx="5008245" cy="304800"/>
          </a:xfrm>
          <a:prstGeom prst="rect">
            <a:avLst/>
          </a:prstGeom>
          <a:noFill/>
          <a:ln/>
        </p:spPr>
        <p:txBody>
          <a:bodyPr wrap="square" lIns="25400" tIns="25400" rIns="25400" bIns="25400" rtlCol="0" anchor="t">
            <a:normAutofit/>
          </a:bodyPr>
          <a:lstStyle/>
          <a:p>
            <a:pPr algn="l" indent="0" marL="0">
              <a:buNone/>
            </a:pPr>
            <a:r>
              <a:rPr lang="en-US" sz="1800" dirty="0">
                <a:solidFill>
                  <a:srgbClr val="808080"/>
                </a:solidFill>
                <a:latin typeface="Courier New" pitchFamily="34" charset="0"/>
                <a:ea typeface="Courier New" pitchFamily="34" charset="-122"/>
                <a:cs typeface="Courier New" pitchFamily="34" charset="-120"/>
              </a:rPr>
              <a:t>hypothesis</a:t>
            </a:r>
            <a:endParaRPr lang="en-US" sz="1800" dirty="0"/>
          </a:p>
        </p:txBody>
      </p:sp>
      <p:sp>
        <p:nvSpPr>
          <p:cNvPr id="15" name="Text 13"/>
          <p:cNvSpPr/>
          <p:nvPr/>
        </p:nvSpPr>
        <p:spPr>
          <a:xfrm>
            <a:off x="12506325" y="5878785"/>
            <a:ext cx="4689539" cy="1278210"/>
          </a:xfrm>
          <a:prstGeom prst="rect">
            <a:avLst/>
          </a:prstGeom>
          <a:noFill/>
          <a:ln/>
        </p:spPr>
        <p:txBody>
          <a:bodyPr wrap="square" lIns="25400" tIns="25400" rIns="25400" bIns="25400" rtlCol="0" anchor="t">
            <a:normAutofit/>
          </a:bodyPr>
          <a:lstStyle/>
          <a:p>
            <a:pPr algn="l" indent="0" marL="0">
              <a:lnSpc>
                <a:spcPct val="122254"/>
              </a:lnSpc>
              <a:buNone/>
            </a:pPr>
            <a:r>
              <a:rPr lang="en-US" sz="2325" dirty="0">
                <a:solidFill>
                  <a:srgbClr val="616161"/>
                </a:solidFill>
                <a:latin typeface="Courier New" pitchFamily="34" charset="0"/>
                <a:ea typeface="Courier New" pitchFamily="34" charset="-122"/>
                <a:cs typeface="Courier New" pitchFamily="34" charset="-120"/>
              </a:rPr>
              <a:t>[or delete this column — three is a maximum, not a target]</a:t>
            </a:r>
            <a:endParaRPr lang="en-US" sz="23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14400" y="1409700"/>
            <a:ext cx="16459200" cy="9525"/>
          </a:xfrm>
          <a:prstGeom prst="rect">
            <a:avLst/>
          </a:prstGeom>
          <a:solidFill>
            <a:srgbClr val="DCDCDC"/>
          </a:solidFill>
          <a:ln/>
        </p:spPr>
      </p:sp>
      <p:sp>
        <p:nvSpPr>
          <p:cNvPr id="3" name="Text 1"/>
          <p:cNvSpPr/>
          <p:nvPr/>
        </p:nvSpPr>
        <p:spPr>
          <a:xfrm>
            <a:off x="914400" y="914400"/>
            <a:ext cx="1968133" cy="304800"/>
          </a:xfrm>
          <a:prstGeom prst="rect">
            <a:avLst/>
          </a:prstGeom>
          <a:noFill/>
          <a:ln/>
        </p:spPr>
        <p:txBody>
          <a:bodyPr wrap="square" lIns="25400" tIns="25400" rIns="25400" bIns="25400" rtlCol="0" anchor="t">
            <a:normAutofit/>
          </a:bodyPr>
          <a:lstStyle/>
          <a:p>
            <a:pPr algn="l" indent="0" marL="0">
              <a:buNone/>
            </a:pPr>
            <a:r>
              <a:rPr lang="en-US" sz="1800" dirty="0">
                <a:solidFill>
                  <a:srgbClr val="808080"/>
                </a:solidFill>
                <a:latin typeface="Courier New" pitchFamily="34" charset="0"/>
                <a:ea typeface="Courier New" pitchFamily="34" charset="-122"/>
                <a:cs typeface="Courier New" pitchFamily="34" charset="-120"/>
              </a:rPr>
              <a:t>09 · traction</a:t>
            </a:r>
            <a:endParaRPr lang="en-US" sz="1800" dirty="0"/>
          </a:p>
        </p:txBody>
      </p:sp>
      <p:sp>
        <p:nvSpPr>
          <p:cNvPr id="4" name="Text 2"/>
          <p:cNvSpPr/>
          <p:nvPr/>
        </p:nvSpPr>
        <p:spPr>
          <a:xfrm>
            <a:off x="15446797" y="914400"/>
            <a:ext cx="2119484" cy="304800"/>
          </a:xfrm>
          <a:prstGeom prst="rect">
            <a:avLst/>
          </a:prstGeom>
          <a:noFill/>
          <a:ln/>
        </p:spPr>
        <p:txBody>
          <a:bodyPr wrap="square" lIns="25400" tIns="25400" rIns="25400" bIns="25400" rtlCol="0" anchor="t">
            <a:normAutofit/>
          </a:bodyPr>
          <a:lstStyle/>
          <a:p>
            <a:pPr algn="l" indent="0" marL="0">
              <a:buNone/>
            </a:pPr>
            <a:r>
              <a:rPr lang="en-US" sz="1800" dirty="0">
                <a:solidFill>
                  <a:srgbClr val="808080"/>
                </a:solidFill>
                <a:latin typeface="Courier New" pitchFamily="34" charset="0"/>
                <a:ea typeface="Courier New" pitchFamily="34" charset="-122"/>
                <a:cs typeface="Courier New" pitchFamily="34" charset="-120"/>
              </a:rPr>
              <a:t>[venture name]</a:t>
            </a:r>
            <a:endParaRPr lang="en-US" sz="1800" dirty="0"/>
          </a:p>
        </p:txBody>
      </p:sp>
      <p:sp>
        <p:nvSpPr>
          <p:cNvPr id="5" name="Text 3"/>
          <p:cNvSpPr/>
          <p:nvPr/>
        </p:nvSpPr>
        <p:spPr>
          <a:xfrm>
            <a:off x="914400" y="1876425"/>
            <a:ext cx="2867561" cy="834330"/>
          </a:xfrm>
          <a:prstGeom prst="rect">
            <a:avLst/>
          </a:prstGeom>
          <a:noFill/>
          <a:ln/>
        </p:spPr>
        <p:txBody>
          <a:bodyPr wrap="square" lIns="25400" tIns="25400" rIns="25400" bIns="25400" rtlCol="0" anchor="t">
            <a:normAutofit/>
          </a:bodyPr>
          <a:lstStyle/>
          <a:p>
            <a:pPr algn="l" indent="0" marL="0">
              <a:lnSpc>
                <a:spcPct val="95543"/>
              </a:lnSpc>
              <a:buNone/>
            </a:pPr>
            <a:r>
              <a:rPr lang="en-US" sz="5700" b="1" dirty="0">
                <a:solidFill>
                  <a:srgbClr val="1A1A1A"/>
                </a:solidFill>
                <a:latin typeface="Arial" pitchFamily="34" charset="0"/>
                <a:ea typeface="Arial" pitchFamily="34" charset="-122"/>
                <a:cs typeface="Arial" pitchFamily="34" charset="-120"/>
              </a:rPr>
              <a:t>Traction</a:t>
            </a:r>
            <a:endParaRPr lang="en-US" sz="5700" dirty="0"/>
          </a:p>
        </p:txBody>
      </p:sp>
      <p:sp>
        <p:nvSpPr>
          <p:cNvPr id="6" name="Shape 4"/>
          <p:cNvSpPr/>
          <p:nvPr/>
        </p:nvSpPr>
        <p:spPr>
          <a:xfrm>
            <a:off x="3826073" y="2093565"/>
            <a:ext cx="1899196" cy="361950"/>
          </a:xfrm>
          <a:prstGeom prst="rect">
            <a:avLst/>
          </a:prstGeom>
          <a:solidFill>
            <a:srgbClr val="EDEDED"/>
          </a:solidFill>
          <a:ln w="9525">
            <a:solidFill>
              <a:srgbClr val="C4C4C4"/>
            </a:solidFill>
            <a:prstDash val="solid"/>
          </a:ln>
        </p:spPr>
      </p:sp>
      <p:sp>
        <p:nvSpPr>
          <p:cNvPr id="7" name="Text 5"/>
          <p:cNvSpPr/>
          <p:nvPr/>
        </p:nvSpPr>
        <p:spPr>
          <a:xfrm>
            <a:off x="3949898" y="2141190"/>
            <a:ext cx="1841465" cy="304800"/>
          </a:xfrm>
          <a:prstGeom prst="rect">
            <a:avLst/>
          </a:prstGeom>
          <a:noFill/>
          <a:ln/>
        </p:spPr>
        <p:txBody>
          <a:bodyPr wrap="square" lIns="25400" tIns="25400" rIns="25400" bIns="25400" rtlCol="0" anchor="t">
            <a:normAutofit/>
          </a:bodyPr>
          <a:lstStyle/>
          <a:p>
            <a:pPr algn="l" indent="0" marL="0">
              <a:buNone/>
            </a:pPr>
            <a:r>
              <a:rPr lang="en-US" sz="1800" dirty="0">
                <a:solidFill>
                  <a:srgbClr val="474747"/>
                </a:solidFill>
                <a:latin typeface="Courier New" pitchFamily="34" charset="0"/>
                <a:ea typeface="Courier New" pitchFamily="34" charset="-122"/>
                <a:cs typeface="Courier New" pitchFamily="34" charset="-120"/>
              </a:rPr>
              <a:t>illustrative</a:t>
            </a:r>
            <a:endParaRPr lang="en-US" sz="1800" dirty="0"/>
          </a:p>
        </p:txBody>
      </p:sp>
      <p:sp>
        <p:nvSpPr>
          <p:cNvPr id="8" name="Text 6"/>
          <p:cNvSpPr/>
          <p:nvPr/>
        </p:nvSpPr>
        <p:spPr>
          <a:xfrm>
            <a:off x="6030069" y="2141190"/>
            <a:ext cx="1816700" cy="304800"/>
          </a:xfrm>
          <a:prstGeom prst="rect">
            <a:avLst/>
          </a:prstGeom>
          <a:noFill/>
          <a:ln/>
        </p:spPr>
        <p:txBody>
          <a:bodyPr wrap="square" lIns="25400" tIns="25400" rIns="25400" bIns="25400" rtlCol="0" anchor="t">
            <a:normAutofit/>
          </a:bodyPr>
          <a:lstStyle/>
          <a:p>
            <a:pPr algn="l" indent="0" marL="0">
              <a:buNone/>
            </a:pPr>
            <a:r>
              <a:rPr lang="en-US" sz="1800" dirty="0">
                <a:solidFill>
                  <a:srgbClr val="808080"/>
                </a:solidFill>
                <a:latin typeface="Courier New" pitchFamily="34" charset="0"/>
                <a:ea typeface="Courier New" pitchFamily="34" charset="-122"/>
                <a:cs typeface="Courier New" pitchFamily="34" charset="-120"/>
              </a:rPr>
              <a:t>as at [date]</a:t>
            </a:r>
            <a:endParaRPr lang="en-US" sz="1800" dirty="0"/>
          </a:p>
        </p:txBody>
      </p:sp>
      <p:sp>
        <p:nvSpPr>
          <p:cNvPr id="9" name="Shape 7"/>
          <p:cNvSpPr/>
          <p:nvPr/>
        </p:nvSpPr>
        <p:spPr>
          <a:xfrm>
            <a:off x="914400" y="3129855"/>
            <a:ext cx="5181600" cy="9525"/>
          </a:xfrm>
          <a:prstGeom prst="rect">
            <a:avLst/>
          </a:prstGeom>
          <a:solidFill>
            <a:srgbClr val="1A1A1A"/>
          </a:solidFill>
          <a:ln/>
        </p:spPr>
      </p:sp>
      <p:sp>
        <p:nvSpPr>
          <p:cNvPr id="10" name="Text 8"/>
          <p:cNvSpPr/>
          <p:nvPr/>
        </p:nvSpPr>
        <p:spPr>
          <a:xfrm>
            <a:off x="914400" y="3367980"/>
            <a:ext cx="5699760" cy="714375"/>
          </a:xfrm>
          <a:prstGeom prst="rect">
            <a:avLst/>
          </a:prstGeom>
          <a:noFill/>
          <a:ln/>
        </p:spPr>
        <p:txBody>
          <a:bodyPr wrap="square" lIns="25400" tIns="25400" rIns="25400" bIns="25400" rtlCol="0" anchor="t">
            <a:normAutofit/>
          </a:bodyPr>
          <a:lstStyle/>
          <a:p>
            <a:pPr algn="l" indent="0" marL="0">
              <a:buNone/>
            </a:pPr>
            <a:r>
              <a:rPr lang="en-US" sz="4575" b="1" dirty="0">
                <a:solidFill>
                  <a:srgbClr val="616161"/>
                </a:solidFill>
                <a:latin typeface="Courier New" pitchFamily="34" charset="0"/>
                <a:ea typeface="Courier New" pitchFamily="34" charset="-122"/>
                <a:cs typeface="Courier New" pitchFamily="34" charset="-120"/>
              </a:rPr>
              <a:t>[$000k]</a:t>
            </a:r>
            <a:endParaRPr lang="en-US" sz="4575" dirty="0"/>
          </a:p>
        </p:txBody>
      </p:sp>
      <p:sp>
        <p:nvSpPr>
          <p:cNvPr id="11" name="Text 9"/>
          <p:cNvSpPr/>
          <p:nvPr/>
        </p:nvSpPr>
        <p:spPr>
          <a:xfrm>
            <a:off x="914400" y="4196655"/>
            <a:ext cx="5699760" cy="304800"/>
          </a:xfrm>
          <a:prstGeom prst="rect">
            <a:avLst/>
          </a:prstGeom>
          <a:noFill/>
          <a:ln/>
        </p:spPr>
        <p:txBody>
          <a:bodyPr wrap="square" lIns="25400" tIns="25400" rIns="25400" bIns="25400" rtlCol="0" anchor="t">
            <a:normAutofit/>
          </a:bodyPr>
          <a:lstStyle/>
          <a:p>
            <a:pPr algn="l" indent="0" marL="0">
              <a:buNone/>
            </a:pPr>
            <a:r>
              <a:rPr lang="en-US" sz="1800" dirty="0">
                <a:solidFill>
                  <a:srgbClr val="808080"/>
                </a:solidFill>
                <a:latin typeface="Courier New" pitchFamily="34" charset="0"/>
                <a:ea typeface="Courier New" pitchFamily="34" charset="-122"/>
                <a:cs typeface="Courier New" pitchFamily="34" charset="-120"/>
              </a:rPr>
              <a:t>[metric name, e.g. ARR]</a:t>
            </a:r>
            <a:endParaRPr lang="en-US" sz="1800" dirty="0"/>
          </a:p>
        </p:txBody>
      </p:sp>
      <p:sp>
        <p:nvSpPr>
          <p:cNvPr id="12" name="Shape 10"/>
          <p:cNvSpPr/>
          <p:nvPr/>
        </p:nvSpPr>
        <p:spPr>
          <a:xfrm>
            <a:off x="6553200" y="3129855"/>
            <a:ext cx="5181600" cy="9525"/>
          </a:xfrm>
          <a:prstGeom prst="rect">
            <a:avLst/>
          </a:prstGeom>
          <a:solidFill>
            <a:srgbClr val="1A1A1A"/>
          </a:solidFill>
          <a:ln/>
        </p:spPr>
      </p:sp>
      <p:sp>
        <p:nvSpPr>
          <p:cNvPr id="13" name="Text 11"/>
          <p:cNvSpPr/>
          <p:nvPr/>
        </p:nvSpPr>
        <p:spPr>
          <a:xfrm>
            <a:off x="6553200" y="3367980"/>
            <a:ext cx="5699760" cy="714375"/>
          </a:xfrm>
          <a:prstGeom prst="rect">
            <a:avLst/>
          </a:prstGeom>
          <a:noFill/>
          <a:ln/>
        </p:spPr>
        <p:txBody>
          <a:bodyPr wrap="square" lIns="25400" tIns="25400" rIns="25400" bIns="25400" rtlCol="0" anchor="t">
            <a:normAutofit/>
          </a:bodyPr>
          <a:lstStyle/>
          <a:p>
            <a:pPr algn="l" indent="0" marL="0">
              <a:buNone/>
            </a:pPr>
            <a:r>
              <a:rPr lang="en-US" sz="4575" b="1" dirty="0">
                <a:solidFill>
                  <a:srgbClr val="616161"/>
                </a:solidFill>
                <a:latin typeface="Courier New" pitchFamily="34" charset="0"/>
                <a:ea typeface="Courier New" pitchFamily="34" charset="-122"/>
                <a:cs typeface="Courier New" pitchFamily="34" charset="-120"/>
              </a:rPr>
              <a:t>[000]</a:t>
            </a:r>
            <a:endParaRPr lang="en-US" sz="4575" dirty="0"/>
          </a:p>
        </p:txBody>
      </p:sp>
      <p:sp>
        <p:nvSpPr>
          <p:cNvPr id="14" name="Text 12"/>
          <p:cNvSpPr/>
          <p:nvPr/>
        </p:nvSpPr>
        <p:spPr>
          <a:xfrm>
            <a:off x="6553200" y="4196655"/>
            <a:ext cx="5699760" cy="304800"/>
          </a:xfrm>
          <a:prstGeom prst="rect">
            <a:avLst/>
          </a:prstGeom>
          <a:noFill/>
          <a:ln/>
        </p:spPr>
        <p:txBody>
          <a:bodyPr wrap="square" lIns="25400" tIns="25400" rIns="25400" bIns="25400" rtlCol="0" anchor="t">
            <a:normAutofit/>
          </a:bodyPr>
          <a:lstStyle/>
          <a:p>
            <a:pPr algn="l" indent="0" marL="0">
              <a:buNone/>
            </a:pPr>
            <a:r>
              <a:rPr lang="en-US" sz="1800" dirty="0">
                <a:solidFill>
                  <a:srgbClr val="808080"/>
                </a:solidFill>
                <a:latin typeface="Courier New" pitchFamily="34" charset="0"/>
                <a:ea typeface="Courier New" pitchFamily="34" charset="-122"/>
                <a:cs typeface="Courier New" pitchFamily="34" charset="-120"/>
              </a:rPr>
              <a:t>[metric name]</a:t>
            </a:r>
            <a:endParaRPr lang="en-US" sz="1800" dirty="0"/>
          </a:p>
        </p:txBody>
      </p:sp>
      <p:sp>
        <p:nvSpPr>
          <p:cNvPr id="15" name="Shape 13"/>
          <p:cNvSpPr/>
          <p:nvPr/>
        </p:nvSpPr>
        <p:spPr>
          <a:xfrm>
            <a:off x="12192000" y="3129855"/>
            <a:ext cx="5181600" cy="9525"/>
          </a:xfrm>
          <a:prstGeom prst="rect">
            <a:avLst/>
          </a:prstGeom>
          <a:solidFill>
            <a:srgbClr val="1A1A1A"/>
          </a:solidFill>
          <a:ln/>
        </p:spPr>
      </p:sp>
      <p:sp>
        <p:nvSpPr>
          <p:cNvPr id="16" name="Text 14"/>
          <p:cNvSpPr/>
          <p:nvPr/>
        </p:nvSpPr>
        <p:spPr>
          <a:xfrm>
            <a:off x="12192000" y="3367980"/>
            <a:ext cx="5699760" cy="714375"/>
          </a:xfrm>
          <a:prstGeom prst="rect">
            <a:avLst/>
          </a:prstGeom>
          <a:noFill/>
          <a:ln/>
        </p:spPr>
        <p:txBody>
          <a:bodyPr wrap="square" lIns="25400" tIns="25400" rIns="25400" bIns="25400" rtlCol="0" anchor="t">
            <a:normAutofit/>
          </a:bodyPr>
          <a:lstStyle/>
          <a:p>
            <a:pPr algn="l" indent="0" marL="0">
              <a:buNone/>
            </a:pPr>
            <a:r>
              <a:rPr lang="en-US" sz="4575" b="1" dirty="0">
                <a:solidFill>
                  <a:srgbClr val="616161"/>
                </a:solidFill>
                <a:latin typeface="Courier New" pitchFamily="34" charset="0"/>
                <a:ea typeface="Courier New" pitchFamily="34" charset="-122"/>
                <a:cs typeface="Courier New" pitchFamily="34" charset="-120"/>
              </a:rPr>
              <a:t>[00%]</a:t>
            </a:r>
            <a:endParaRPr lang="en-US" sz="4575" dirty="0"/>
          </a:p>
        </p:txBody>
      </p:sp>
      <p:sp>
        <p:nvSpPr>
          <p:cNvPr id="17" name="Text 15"/>
          <p:cNvSpPr/>
          <p:nvPr/>
        </p:nvSpPr>
        <p:spPr>
          <a:xfrm>
            <a:off x="12192000" y="4196655"/>
            <a:ext cx="5699760" cy="304800"/>
          </a:xfrm>
          <a:prstGeom prst="rect">
            <a:avLst/>
          </a:prstGeom>
          <a:noFill/>
          <a:ln/>
        </p:spPr>
        <p:txBody>
          <a:bodyPr wrap="square" lIns="25400" tIns="25400" rIns="25400" bIns="25400" rtlCol="0" anchor="t">
            <a:normAutofit/>
          </a:bodyPr>
          <a:lstStyle/>
          <a:p>
            <a:pPr algn="l" indent="0" marL="0">
              <a:buNone/>
            </a:pPr>
            <a:r>
              <a:rPr lang="en-US" sz="1800" dirty="0">
                <a:solidFill>
                  <a:srgbClr val="808080"/>
                </a:solidFill>
                <a:latin typeface="Courier New" pitchFamily="34" charset="0"/>
                <a:ea typeface="Courier New" pitchFamily="34" charset="-122"/>
                <a:cs typeface="Courier New" pitchFamily="34" charset="-120"/>
              </a:rPr>
              <a:t>[metric name]</a:t>
            </a:r>
            <a:endParaRPr lang="en-US" sz="1800" dirty="0"/>
          </a:p>
        </p:txBody>
      </p:sp>
      <p:sp>
        <p:nvSpPr>
          <p:cNvPr id="18" name="Shape 16"/>
          <p:cNvSpPr/>
          <p:nvPr/>
        </p:nvSpPr>
        <p:spPr>
          <a:xfrm>
            <a:off x="914400" y="4920555"/>
            <a:ext cx="16459200" cy="4452045"/>
          </a:xfrm>
          <a:prstGeom prst="rect">
            <a:avLst/>
          </a:prstGeom>
          <a:solidFill>
            <a:srgbClr val="EDEDED"/>
          </a:solidFill>
          <a:ln w="9525">
            <a:solidFill>
              <a:srgbClr val="C4C4C4"/>
            </a:solidFill>
            <a:prstDash val="solid"/>
          </a:ln>
        </p:spPr>
      </p:sp>
      <p:sp>
        <p:nvSpPr>
          <p:cNvPr id="19" name="Shape 17"/>
          <p:cNvSpPr/>
          <p:nvPr/>
        </p:nvSpPr>
        <p:spPr>
          <a:xfrm>
            <a:off x="5059635" y="6927503"/>
            <a:ext cx="8168729" cy="438150"/>
          </a:xfrm>
          <a:prstGeom prst="rect">
            <a:avLst/>
          </a:prstGeom>
          <a:solidFill>
            <a:srgbClr val="FFFFFF"/>
          </a:solidFill>
          <a:ln w="9525">
            <a:solidFill>
              <a:srgbClr val="C4C4C4"/>
            </a:solidFill>
            <a:prstDash val="solid"/>
          </a:ln>
        </p:spPr>
      </p:sp>
      <p:sp>
        <p:nvSpPr>
          <p:cNvPr id="20" name="Text 18"/>
          <p:cNvSpPr/>
          <p:nvPr/>
        </p:nvSpPr>
        <p:spPr>
          <a:xfrm>
            <a:off x="5221560" y="7013228"/>
            <a:ext cx="8089941" cy="304800"/>
          </a:xfrm>
          <a:prstGeom prst="rect">
            <a:avLst/>
          </a:prstGeom>
          <a:noFill/>
          <a:ln/>
        </p:spPr>
        <p:txBody>
          <a:bodyPr wrap="square" lIns="25400" tIns="25400" rIns="25400" bIns="25400" rtlCol="0" anchor="t">
            <a:normAutofit/>
          </a:bodyPr>
          <a:lstStyle/>
          <a:p>
            <a:pPr algn="l" indent="0" marL="0">
              <a:buNone/>
            </a:pPr>
            <a:r>
              <a:rPr lang="en-US" sz="1800" dirty="0">
                <a:solidFill>
                  <a:srgbClr val="616161"/>
                </a:solidFill>
                <a:latin typeface="Courier New" pitchFamily="34" charset="0"/>
                <a:ea typeface="Courier New" pitchFamily="34" charset="-122"/>
                <a:cs typeface="Courier New" pitchFamily="34" charset="-120"/>
              </a:rPr>
              <a:t>growth chart — monthly, from first revenue, axes labelled</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14400" y="1409700"/>
            <a:ext cx="16459200" cy="9525"/>
          </a:xfrm>
          <a:prstGeom prst="rect">
            <a:avLst/>
          </a:prstGeom>
          <a:solidFill>
            <a:srgbClr val="DCDCDC"/>
          </a:solidFill>
          <a:ln/>
        </p:spPr>
      </p:sp>
      <p:sp>
        <p:nvSpPr>
          <p:cNvPr id="3" name="Text 1"/>
          <p:cNvSpPr/>
          <p:nvPr/>
        </p:nvSpPr>
        <p:spPr>
          <a:xfrm>
            <a:off x="914400" y="914400"/>
            <a:ext cx="2422267" cy="304800"/>
          </a:xfrm>
          <a:prstGeom prst="rect">
            <a:avLst/>
          </a:prstGeom>
          <a:noFill/>
          <a:ln/>
        </p:spPr>
        <p:txBody>
          <a:bodyPr wrap="square" lIns="25400" tIns="25400" rIns="25400" bIns="25400" rtlCol="0" anchor="t">
            <a:normAutofit/>
          </a:bodyPr>
          <a:lstStyle/>
          <a:p>
            <a:pPr algn="l" indent="0" marL="0">
              <a:buNone/>
            </a:pPr>
            <a:r>
              <a:rPr lang="en-US" sz="1800" dirty="0">
                <a:solidFill>
                  <a:srgbClr val="808080"/>
                </a:solidFill>
                <a:latin typeface="Courier New" pitchFamily="34" charset="0"/>
                <a:ea typeface="Courier New" pitchFamily="34" charset="-122"/>
                <a:cs typeface="Courier New" pitchFamily="34" charset="-120"/>
              </a:rPr>
              <a:t>10 · competition</a:t>
            </a:r>
            <a:endParaRPr lang="en-US" sz="1800" dirty="0"/>
          </a:p>
        </p:txBody>
      </p:sp>
      <p:sp>
        <p:nvSpPr>
          <p:cNvPr id="4" name="Text 2"/>
          <p:cNvSpPr/>
          <p:nvPr/>
        </p:nvSpPr>
        <p:spPr>
          <a:xfrm>
            <a:off x="15446797" y="914400"/>
            <a:ext cx="2119484" cy="304800"/>
          </a:xfrm>
          <a:prstGeom prst="rect">
            <a:avLst/>
          </a:prstGeom>
          <a:noFill/>
          <a:ln/>
        </p:spPr>
        <p:txBody>
          <a:bodyPr wrap="square" lIns="25400" tIns="25400" rIns="25400" bIns="25400" rtlCol="0" anchor="t">
            <a:normAutofit/>
          </a:bodyPr>
          <a:lstStyle/>
          <a:p>
            <a:pPr algn="l" indent="0" marL="0">
              <a:buNone/>
            </a:pPr>
            <a:r>
              <a:rPr lang="en-US" sz="1800" dirty="0">
                <a:solidFill>
                  <a:srgbClr val="808080"/>
                </a:solidFill>
                <a:latin typeface="Courier New" pitchFamily="34" charset="0"/>
                <a:ea typeface="Courier New" pitchFamily="34" charset="-122"/>
                <a:cs typeface="Courier New" pitchFamily="34" charset="-120"/>
              </a:rPr>
              <a:t>[venture name]</a:t>
            </a:r>
            <a:endParaRPr lang="en-US" sz="1800" dirty="0"/>
          </a:p>
        </p:txBody>
      </p:sp>
      <p:sp>
        <p:nvSpPr>
          <p:cNvPr id="5" name="Text 3"/>
          <p:cNvSpPr/>
          <p:nvPr/>
        </p:nvSpPr>
        <p:spPr>
          <a:xfrm>
            <a:off x="914400" y="1876425"/>
            <a:ext cx="4367644" cy="834330"/>
          </a:xfrm>
          <a:prstGeom prst="rect">
            <a:avLst/>
          </a:prstGeom>
          <a:noFill/>
          <a:ln/>
        </p:spPr>
        <p:txBody>
          <a:bodyPr wrap="none" lIns="25400" tIns="25400" rIns="25400" bIns="25400" rtlCol="0" anchor="t">
            <a:normAutofit/>
          </a:bodyPr>
          <a:lstStyle/>
          <a:p>
            <a:pPr algn="l" indent="0" marL="0">
              <a:lnSpc>
                <a:spcPct val="95543"/>
              </a:lnSpc>
              <a:buNone/>
            </a:pPr>
            <a:r>
              <a:rPr lang="en-US" sz="5700" b="1" dirty="0">
                <a:solidFill>
                  <a:srgbClr val="1A1A1A"/>
                </a:solidFill>
                <a:latin typeface="Arial" pitchFamily="34" charset="0"/>
                <a:ea typeface="Arial" pitchFamily="34" charset="-122"/>
                <a:cs typeface="Arial" pitchFamily="34" charset="-120"/>
              </a:rPr>
              <a:t>Competition</a:t>
            </a:r>
            <a:endParaRPr lang="en-US" sz="5700" dirty="0"/>
          </a:p>
        </p:txBody>
      </p:sp>
      <p:sp>
        <p:nvSpPr>
          <p:cNvPr id="6" name="Text 4"/>
          <p:cNvSpPr/>
          <p:nvPr/>
        </p:nvSpPr>
        <p:spPr>
          <a:xfrm>
            <a:off x="5799386" y="2243138"/>
            <a:ext cx="10755154" cy="451470"/>
          </a:xfrm>
          <a:prstGeom prst="rect">
            <a:avLst/>
          </a:prstGeom>
          <a:noFill/>
          <a:ln/>
        </p:spPr>
        <p:txBody>
          <a:bodyPr wrap="square" lIns="25400" tIns="25400" rIns="25400" bIns="25400" rtlCol="0" anchor="t">
            <a:normAutofit/>
          </a:bodyPr>
          <a:lstStyle/>
          <a:p>
            <a:pPr algn="l" indent="0" marL="0">
              <a:lnSpc>
                <a:spcPct val="122254"/>
              </a:lnSpc>
              <a:buNone/>
            </a:pPr>
            <a:r>
              <a:rPr lang="en-US" sz="2325" dirty="0">
                <a:solidFill>
                  <a:srgbClr val="616161"/>
                </a:solidFill>
                <a:latin typeface="Courier New" pitchFamily="34" charset="0"/>
                <a:ea typeface="Courier New" pitchFamily="34" charset="-122"/>
                <a:cs typeface="Courier New" pitchFamily="34" charset="-120"/>
              </a:rPr>
              <a:t>[the axis you win on — the template cannot supply this]</a:t>
            </a:r>
            <a:endParaRPr lang="en-US" sz="2325" dirty="0"/>
          </a:p>
        </p:txBody>
      </p:sp>
      <p:sp>
        <p:nvSpPr>
          <p:cNvPr id="7" name="Shape 5"/>
          <p:cNvSpPr/>
          <p:nvPr/>
        </p:nvSpPr>
        <p:spPr>
          <a:xfrm>
            <a:off x="914400" y="4681017"/>
            <a:ext cx="5236964" cy="9525"/>
          </a:xfrm>
          <a:prstGeom prst="rect">
            <a:avLst/>
          </a:prstGeom>
          <a:solidFill>
            <a:srgbClr val="1A1A1A"/>
          </a:solidFill>
          <a:ln/>
        </p:spPr>
      </p:sp>
      <p:sp>
        <p:nvSpPr>
          <p:cNvPr id="8" name="Shape 6"/>
          <p:cNvSpPr/>
          <p:nvPr/>
        </p:nvSpPr>
        <p:spPr>
          <a:xfrm>
            <a:off x="6151364" y="4681017"/>
            <a:ext cx="3740721" cy="9525"/>
          </a:xfrm>
          <a:prstGeom prst="rect">
            <a:avLst/>
          </a:prstGeom>
          <a:solidFill>
            <a:srgbClr val="1A1A1A"/>
          </a:solidFill>
          <a:ln/>
        </p:spPr>
      </p:sp>
      <p:sp>
        <p:nvSpPr>
          <p:cNvPr id="9" name="Text 7"/>
          <p:cNvSpPr/>
          <p:nvPr/>
        </p:nvSpPr>
        <p:spPr>
          <a:xfrm>
            <a:off x="6151364" y="3358455"/>
            <a:ext cx="3548142" cy="1132061"/>
          </a:xfrm>
          <a:prstGeom prst="rect">
            <a:avLst/>
          </a:prstGeom>
          <a:noFill/>
          <a:ln/>
        </p:spPr>
        <p:txBody>
          <a:bodyPr wrap="square" lIns="25400" tIns="25400" rIns="25400" bIns="25400" rtlCol="0" anchor="t">
            <a:normAutofit/>
          </a:bodyPr>
          <a:lstStyle/>
          <a:p>
            <a:pPr algn="l" indent="0" marL="0">
              <a:buNone/>
            </a:pPr>
            <a:r>
              <a:rPr lang="en-US" sz="1800" dirty="0">
                <a:solidFill>
                  <a:srgbClr val="808080"/>
                </a:solidFill>
                <a:latin typeface="Courier New" pitchFamily="34" charset="0"/>
                <a:ea typeface="Courier New" pitchFamily="34" charset="-122"/>
                <a:cs typeface="Courier New" pitchFamily="34" charset="-120"/>
              </a:rPr>
              <a:t>[capability 1]</a:t>
            </a:r>
            <a:endParaRPr lang="en-US" sz="1800" dirty="0"/>
          </a:p>
        </p:txBody>
      </p:sp>
      <p:sp>
        <p:nvSpPr>
          <p:cNvPr id="10" name="Shape 8"/>
          <p:cNvSpPr/>
          <p:nvPr/>
        </p:nvSpPr>
        <p:spPr>
          <a:xfrm>
            <a:off x="9892085" y="4681017"/>
            <a:ext cx="3740721" cy="9525"/>
          </a:xfrm>
          <a:prstGeom prst="rect">
            <a:avLst/>
          </a:prstGeom>
          <a:solidFill>
            <a:srgbClr val="1A1A1A"/>
          </a:solidFill>
          <a:ln/>
        </p:spPr>
      </p:sp>
      <p:sp>
        <p:nvSpPr>
          <p:cNvPr id="11" name="Text 9"/>
          <p:cNvSpPr/>
          <p:nvPr/>
        </p:nvSpPr>
        <p:spPr>
          <a:xfrm>
            <a:off x="9892085" y="3358455"/>
            <a:ext cx="3548142" cy="1132061"/>
          </a:xfrm>
          <a:prstGeom prst="rect">
            <a:avLst/>
          </a:prstGeom>
          <a:noFill/>
          <a:ln/>
        </p:spPr>
        <p:txBody>
          <a:bodyPr wrap="square" lIns="25400" tIns="25400" rIns="25400" bIns="25400" rtlCol="0" anchor="t">
            <a:normAutofit/>
          </a:bodyPr>
          <a:lstStyle/>
          <a:p>
            <a:pPr algn="l" indent="0" marL="0">
              <a:buNone/>
            </a:pPr>
            <a:r>
              <a:rPr lang="en-US" sz="1800" dirty="0">
                <a:solidFill>
                  <a:srgbClr val="808080"/>
                </a:solidFill>
                <a:latin typeface="Courier New" pitchFamily="34" charset="0"/>
                <a:ea typeface="Courier New" pitchFamily="34" charset="-122"/>
                <a:cs typeface="Courier New" pitchFamily="34" charset="-120"/>
              </a:rPr>
              <a:t>[capability 2]</a:t>
            </a:r>
            <a:endParaRPr lang="en-US" sz="1800" dirty="0"/>
          </a:p>
        </p:txBody>
      </p:sp>
      <p:sp>
        <p:nvSpPr>
          <p:cNvPr id="12" name="Shape 10"/>
          <p:cNvSpPr/>
          <p:nvPr/>
        </p:nvSpPr>
        <p:spPr>
          <a:xfrm>
            <a:off x="13632805" y="4681017"/>
            <a:ext cx="3740721" cy="9525"/>
          </a:xfrm>
          <a:prstGeom prst="rect">
            <a:avLst/>
          </a:prstGeom>
          <a:solidFill>
            <a:srgbClr val="1A1A1A"/>
          </a:solidFill>
          <a:ln/>
        </p:spPr>
      </p:sp>
      <p:sp>
        <p:nvSpPr>
          <p:cNvPr id="13" name="Text 11"/>
          <p:cNvSpPr/>
          <p:nvPr/>
        </p:nvSpPr>
        <p:spPr>
          <a:xfrm>
            <a:off x="13632805" y="3358455"/>
            <a:ext cx="3548142" cy="1132061"/>
          </a:xfrm>
          <a:prstGeom prst="rect">
            <a:avLst/>
          </a:prstGeom>
          <a:noFill/>
          <a:ln/>
        </p:spPr>
        <p:txBody>
          <a:bodyPr wrap="square" lIns="25400" tIns="25400" rIns="25400" bIns="25400" rtlCol="0" anchor="t">
            <a:normAutofit/>
          </a:bodyPr>
          <a:lstStyle/>
          <a:p>
            <a:pPr algn="l" indent="0" marL="0">
              <a:buNone/>
            </a:pPr>
            <a:r>
              <a:rPr lang="en-US" sz="1800" dirty="0">
                <a:solidFill>
                  <a:srgbClr val="808080"/>
                </a:solidFill>
                <a:latin typeface="Courier New" pitchFamily="34" charset="0"/>
                <a:ea typeface="Courier New" pitchFamily="34" charset="-122"/>
                <a:cs typeface="Courier New" pitchFamily="34" charset="-120"/>
              </a:rPr>
              <a:t>[capability 3]</a:t>
            </a:r>
            <a:endParaRPr lang="en-US" sz="1800" dirty="0"/>
          </a:p>
        </p:txBody>
      </p:sp>
      <p:sp>
        <p:nvSpPr>
          <p:cNvPr id="14" name="Shape 12"/>
          <p:cNvSpPr/>
          <p:nvPr/>
        </p:nvSpPr>
        <p:spPr>
          <a:xfrm>
            <a:off x="914400" y="6241703"/>
            <a:ext cx="5236964" cy="9525"/>
          </a:xfrm>
          <a:prstGeom prst="rect">
            <a:avLst/>
          </a:prstGeom>
          <a:solidFill>
            <a:srgbClr val="DCDCDC"/>
          </a:solidFill>
          <a:ln/>
        </p:spPr>
      </p:sp>
      <p:sp>
        <p:nvSpPr>
          <p:cNvPr id="15" name="Text 13"/>
          <p:cNvSpPr/>
          <p:nvPr/>
        </p:nvSpPr>
        <p:spPr>
          <a:xfrm>
            <a:off x="914400" y="4919142"/>
            <a:ext cx="5089273" cy="1132061"/>
          </a:xfrm>
          <a:prstGeom prst="rect">
            <a:avLst/>
          </a:prstGeom>
          <a:noFill/>
          <a:ln/>
        </p:spPr>
        <p:txBody>
          <a:bodyPr wrap="square" lIns="25400" tIns="25400" rIns="25400" bIns="25400" rtlCol="0" anchor="t">
            <a:normAutofit/>
          </a:bodyPr>
          <a:lstStyle/>
          <a:p>
            <a:pPr algn="l" indent="0" marL="0">
              <a:buNone/>
            </a:pPr>
            <a:r>
              <a:rPr lang="en-US" sz="2325" b="1" dirty="0">
                <a:solidFill>
                  <a:srgbClr val="1A1A1A"/>
                </a:solidFill>
                <a:latin typeface="Courier New" pitchFamily="34" charset="0"/>
                <a:ea typeface="Courier New" pitchFamily="34" charset="-122"/>
                <a:cs typeface="Courier New" pitchFamily="34" charset="-120"/>
              </a:rPr>
              <a:t>[venture name]</a:t>
            </a:r>
            <a:endParaRPr lang="en-US" sz="2325" dirty="0"/>
          </a:p>
        </p:txBody>
      </p:sp>
      <p:sp>
        <p:nvSpPr>
          <p:cNvPr id="16" name="Shape 14"/>
          <p:cNvSpPr/>
          <p:nvPr/>
        </p:nvSpPr>
        <p:spPr>
          <a:xfrm>
            <a:off x="6151364" y="6241703"/>
            <a:ext cx="3740721" cy="9525"/>
          </a:xfrm>
          <a:prstGeom prst="rect">
            <a:avLst/>
          </a:prstGeom>
          <a:solidFill>
            <a:srgbClr val="DCDCDC"/>
          </a:solidFill>
          <a:ln/>
        </p:spPr>
      </p:sp>
      <p:sp>
        <p:nvSpPr>
          <p:cNvPr id="17" name="Text 15"/>
          <p:cNvSpPr/>
          <p:nvPr/>
        </p:nvSpPr>
        <p:spPr>
          <a:xfrm>
            <a:off x="6151364" y="4919142"/>
            <a:ext cx="3548142" cy="1132061"/>
          </a:xfrm>
          <a:prstGeom prst="rect">
            <a:avLst/>
          </a:prstGeom>
          <a:noFill/>
          <a:ln/>
        </p:spPr>
        <p:txBody>
          <a:bodyPr wrap="square" lIns="25400" tIns="25400" rIns="25400" bIns="25400" rtlCol="0" anchor="t">
            <a:normAutofit/>
          </a:bodyPr>
          <a:lstStyle/>
          <a:p>
            <a:pPr algn="l" indent="0" marL="0">
              <a:buNone/>
            </a:pPr>
            <a:r>
              <a:rPr lang="en-US" sz="2325" dirty="0">
                <a:solidFill>
                  <a:srgbClr val="616161"/>
                </a:solidFill>
                <a:latin typeface="Courier New" pitchFamily="34" charset="0"/>
                <a:ea typeface="Courier New" pitchFamily="34" charset="-122"/>
                <a:cs typeface="Courier New" pitchFamily="34" charset="-120"/>
              </a:rPr>
              <a:t>[yes / partial / no]</a:t>
            </a:r>
            <a:endParaRPr lang="en-US" sz="2325" dirty="0"/>
          </a:p>
        </p:txBody>
      </p:sp>
      <p:sp>
        <p:nvSpPr>
          <p:cNvPr id="18" name="Shape 16"/>
          <p:cNvSpPr/>
          <p:nvPr/>
        </p:nvSpPr>
        <p:spPr>
          <a:xfrm>
            <a:off x="9892085" y="6241703"/>
            <a:ext cx="3740721" cy="9525"/>
          </a:xfrm>
          <a:prstGeom prst="rect">
            <a:avLst/>
          </a:prstGeom>
          <a:solidFill>
            <a:srgbClr val="DCDCDC"/>
          </a:solidFill>
          <a:ln/>
        </p:spPr>
      </p:sp>
      <p:sp>
        <p:nvSpPr>
          <p:cNvPr id="19" name="Text 17"/>
          <p:cNvSpPr/>
          <p:nvPr/>
        </p:nvSpPr>
        <p:spPr>
          <a:xfrm>
            <a:off x="9892085" y="4919142"/>
            <a:ext cx="3548142" cy="1132061"/>
          </a:xfrm>
          <a:prstGeom prst="rect">
            <a:avLst/>
          </a:prstGeom>
          <a:noFill/>
          <a:ln/>
        </p:spPr>
        <p:txBody>
          <a:bodyPr wrap="square" lIns="25400" tIns="25400" rIns="25400" bIns="25400" rtlCol="0" anchor="t">
            <a:normAutofit/>
          </a:bodyPr>
          <a:lstStyle/>
          <a:p>
            <a:pPr algn="l" indent="0" marL="0">
              <a:buNone/>
            </a:pPr>
            <a:r>
              <a:rPr lang="en-US" sz="2325" dirty="0">
                <a:solidFill>
                  <a:srgbClr val="616161"/>
                </a:solidFill>
                <a:latin typeface="Courier New" pitchFamily="34" charset="0"/>
                <a:ea typeface="Courier New" pitchFamily="34" charset="-122"/>
                <a:cs typeface="Courier New" pitchFamily="34" charset="-120"/>
              </a:rPr>
              <a:t>[yes / partial / no]</a:t>
            </a:r>
            <a:endParaRPr lang="en-US" sz="2325" dirty="0"/>
          </a:p>
        </p:txBody>
      </p:sp>
      <p:sp>
        <p:nvSpPr>
          <p:cNvPr id="20" name="Shape 18"/>
          <p:cNvSpPr/>
          <p:nvPr/>
        </p:nvSpPr>
        <p:spPr>
          <a:xfrm>
            <a:off x="13632805" y="6241703"/>
            <a:ext cx="3740721" cy="9525"/>
          </a:xfrm>
          <a:prstGeom prst="rect">
            <a:avLst/>
          </a:prstGeom>
          <a:solidFill>
            <a:srgbClr val="DCDCDC"/>
          </a:solidFill>
          <a:ln/>
        </p:spPr>
      </p:sp>
      <p:sp>
        <p:nvSpPr>
          <p:cNvPr id="21" name="Text 19"/>
          <p:cNvSpPr/>
          <p:nvPr/>
        </p:nvSpPr>
        <p:spPr>
          <a:xfrm>
            <a:off x="13632805" y="4919142"/>
            <a:ext cx="3548142" cy="1132061"/>
          </a:xfrm>
          <a:prstGeom prst="rect">
            <a:avLst/>
          </a:prstGeom>
          <a:noFill/>
          <a:ln/>
        </p:spPr>
        <p:txBody>
          <a:bodyPr wrap="square" lIns="25400" tIns="25400" rIns="25400" bIns="25400" rtlCol="0" anchor="t">
            <a:normAutofit/>
          </a:bodyPr>
          <a:lstStyle/>
          <a:p>
            <a:pPr algn="l" indent="0" marL="0">
              <a:buNone/>
            </a:pPr>
            <a:r>
              <a:rPr lang="en-US" sz="2325" dirty="0">
                <a:solidFill>
                  <a:srgbClr val="616161"/>
                </a:solidFill>
                <a:latin typeface="Courier New" pitchFamily="34" charset="0"/>
                <a:ea typeface="Courier New" pitchFamily="34" charset="-122"/>
                <a:cs typeface="Courier New" pitchFamily="34" charset="-120"/>
              </a:rPr>
              <a:t>[yes / partial / no]</a:t>
            </a:r>
            <a:endParaRPr lang="en-US" sz="2325" dirty="0"/>
          </a:p>
        </p:txBody>
      </p:sp>
      <p:sp>
        <p:nvSpPr>
          <p:cNvPr id="22" name="Shape 20"/>
          <p:cNvSpPr/>
          <p:nvPr/>
        </p:nvSpPr>
        <p:spPr>
          <a:xfrm>
            <a:off x="914400" y="7802389"/>
            <a:ext cx="5236964" cy="9525"/>
          </a:xfrm>
          <a:prstGeom prst="rect">
            <a:avLst/>
          </a:prstGeom>
          <a:solidFill>
            <a:srgbClr val="DCDCDC"/>
          </a:solidFill>
          <a:ln/>
        </p:spPr>
      </p:sp>
      <p:sp>
        <p:nvSpPr>
          <p:cNvPr id="23" name="Text 21"/>
          <p:cNvSpPr/>
          <p:nvPr/>
        </p:nvSpPr>
        <p:spPr>
          <a:xfrm>
            <a:off x="914400" y="6479828"/>
            <a:ext cx="5089273" cy="1132061"/>
          </a:xfrm>
          <a:prstGeom prst="rect">
            <a:avLst/>
          </a:prstGeom>
          <a:noFill/>
          <a:ln/>
        </p:spPr>
        <p:txBody>
          <a:bodyPr wrap="square" lIns="25400" tIns="25400" rIns="25400" bIns="25400" rtlCol="0" anchor="t">
            <a:normAutofit/>
          </a:bodyPr>
          <a:lstStyle/>
          <a:p>
            <a:pPr algn="l" indent="0" marL="0">
              <a:buNone/>
            </a:pPr>
            <a:r>
              <a:rPr lang="en-US" sz="2325" dirty="0">
                <a:solidFill>
                  <a:srgbClr val="616161"/>
                </a:solidFill>
                <a:latin typeface="Courier New" pitchFamily="34" charset="0"/>
                <a:ea typeface="Courier New" pitchFamily="34" charset="-122"/>
                <a:cs typeface="Courier New" pitchFamily="34" charset="-120"/>
              </a:rPr>
              <a:t>[named competitor]</a:t>
            </a:r>
            <a:endParaRPr lang="en-US" sz="2325" dirty="0"/>
          </a:p>
        </p:txBody>
      </p:sp>
      <p:sp>
        <p:nvSpPr>
          <p:cNvPr id="24" name="Shape 22"/>
          <p:cNvSpPr/>
          <p:nvPr/>
        </p:nvSpPr>
        <p:spPr>
          <a:xfrm>
            <a:off x="6151364" y="7802389"/>
            <a:ext cx="3740721" cy="9525"/>
          </a:xfrm>
          <a:prstGeom prst="rect">
            <a:avLst/>
          </a:prstGeom>
          <a:solidFill>
            <a:srgbClr val="DCDCDC"/>
          </a:solidFill>
          <a:ln/>
        </p:spPr>
      </p:sp>
      <p:sp>
        <p:nvSpPr>
          <p:cNvPr id="25" name="Text 23"/>
          <p:cNvSpPr/>
          <p:nvPr/>
        </p:nvSpPr>
        <p:spPr>
          <a:xfrm>
            <a:off x="6151364" y="6479828"/>
            <a:ext cx="3548142" cy="1132061"/>
          </a:xfrm>
          <a:prstGeom prst="rect">
            <a:avLst/>
          </a:prstGeom>
          <a:noFill/>
          <a:ln/>
        </p:spPr>
        <p:txBody>
          <a:bodyPr wrap="square" lIns="25400" tIns="25400" rIns="25400" bIns="25400" rtlCol="0" anchor="t">
            <a:normAutofit/>
          </a:bodyPr>
          <a:lstStyle/>
          <a:p>
            <a:pPr algn="l" indent="0" marL="0">
              <a:buNone/>
            </a:pPr>
            <a:r>
              <a:rPr lang="en-US" sz="2325" dirty="0">
                <a:solidFill>
                  <a:srgbClr val="616161"/>
                </a:solidFill>
                <a:latin typeface="Courier New" pitchFamily="34" charset="0"/>
                <a:ea typeface="Courier New" pitchFamily="34" charset="-122"/>
                <a:cs typeface="Courier New" pitchFamily="34" charset="-120"/>
              </a:rPr>
              <a:t>[yes / partial / no]</a:t>
            </a:r>
            <a:endParaRPr lang="en-US" sz="2325" dirty="0"/>
          </a:p>
        </p:txBody>
      </p:sp>
      <p:sp>
        <p:nvSpPr>
          <p:cNvPr id="26" name="Shape 24"/>
          <p:cNvSpPr/>
          <p:nvPr/>
        </p:nvSpPr>
        <p:spPr>
          <a:xfrm>
            <a:off x="9892085" y="7802389"/>
            <a:ext cx="3740721" cy="9525"/>
          </a:xfrm>
          <a:prstGeom prst="rect">
            <a:avLst/>
          </a:prstGeom>
          <a:solidFill>
            <a:srgbClr val="DCDCDC"/>
          </a:solidFill>
          <a:ln/>
        </p:spPr>
      </p:sp>
      <p:sp>
        <p:nvSpPr>
          <p:cNvPr id="27" name="Text 25"/>
          <p:cNvSpPr/>
          <p:nvPr/>
        </p:nvSpPr>
        <p:spPr>
          <a:xfrm>
            <a:off x="9892085" y="6479828"/>
            <a:ext cx="3548142" cy="1132061"/>
          </a:xfrm>
          <a:prstGeom prst="rect">
            <a:avLst/>
          </a:prstGeom>
          <a:noFill/>
          <a:ln/>
        </p:spPr>
        <p:txBody>
          <a:bodyPr wrap="square" lIns="25400" tIns="25400" rIns="25400" bIns="25400" rtlCol="0" anchor="t">
            <a:normAutofit/>
          </a:bodyPr>
          <a:lstStyle/>
          <a:p>
            <a:pPr algn="l" indent="0" marL="0">
              <a:buNone/>
            </a:pPr>
            <a:r>
              <a:rPr lang="en-US" sz="2325" dirty="0">
                <a:solidFill>
                  <a:srgbClr val="616161"/>
                </a:solidFill>
                <a:latin typeface="Courier New" pitchFamily="34" charset="0"/>
                <a:ea typeface="Courier New" pitchFamily="34" charset="-122"/>
                <a:cs typeface="Courier New" pitchFamily="34" charset="-120"/>
              </a:rPr>
              <a:t>[yes / partial / no]</a:t>
            </a:r>
            <a:endParaRPr lang="en-US" sz="2325" dirty="0"/>
          </a:p>
        </p:txBody>
      </p:sp>
      <p:sp>
        <p:nvSpPr>
          <p:cNvPr id="28" name="Shape 26"/>
          <p:cNvSpPr/>
          <p:nvPr/>
        </p:nvSpPr>
        <p:spPr>
          <a:xfrm>
            <a:off x="13632805" y="7802389"/>
            <a:ext cx="3740721" cy="9525"/>
          </a:xfrm>
          <a:prstGeom prst="rect">
            <a:avLst/>
          </a:prstGeom>
          <a:solidFill>
            <a:srgbClr val="DCDCDC"/>
          </a:solidFill>
          <a:ln/>
        </p:spPr>
      </p:sp>
      <p:sp>
        <p:nvSpPr>
          <p:cNvPr id="29" name="Text 27"/>
          <p:cNvSpPr/>
          <p:nvPr/>
        </p:nvSpPr>
        <p:spPr>
          <a:xfrm>
            <a:off x="13632805" y="6479828"/>
            <a:ext cx="3548142" cy="1132061"/>
          </a:xfrm>
          <a:prstGeom prst="rect">
            <a:avLst/>
          </a:prstGeom>
          <a:noFill/>
          <a:ln/>
        </p:spPr>
        <p:txBody>
          <a:bodyPr wrap="square" lIns="25400" tIns="25400" rIns="25400" bIns="25400" rtlCol="0" anchor="t">
            <a:normAutofit/>
          </a:bodyPr>
          <a:lstStyle/>
          <a:p>
            <a:pPr algn="l" indent="0" marL="0">
              <a:buNone/>
            </a:pPr>
            <a:r>
              <a:rPr lang="en-US" sz="2325" dirty="0">
                <a:solidFill>
                  <a:srgbClr val="616161"/>
                </a:solidFill>
                <a:latin typeface="Courier New" pitchFamily="34" charset="0"/>
                <a:ea typeface="Courier New" pitchFamily="34" charset="-122"/>
                <a:cs typeface="Courier New" pitchFamily="34" charset="-120"/>
              </a:rPr>
              <a:t>[yes / partial / no]</a:t>
            </a:r>
            <a:endParaRPr lang="en-US" sz="2325" dirty="0"/>
          </a:p>
        </p:txBody>
      </p:sp>
      <p:sp>
        <p:nvSpPr>
          <p:cNvPr id="30" name="Shape 28"/>
          <p:cNvSpPr/>
          <p:nvPr/>
        </p:nvSpPr>
        <p:spPr>
          <a:xfrm>
            <a:off x="914400" y="9363075"/>
            <a:ext cx="5236964" cy="9525"/>
          </a:xfrm>
          <a:prstGeom prst="rect">
            <a:avLst/>
          </a:prstGeom>
          <a:solidFill>
            <a:srgbClr val="DCDCDC"/>
          </a:solidFill>
          <a:ln/>
        </p:spPr>
      </p:sp>
      <p:sp>
        <p:nvSpPr>
          <p:cNvPr id="31" name="Text 29"/>
          <p:cNvSpPr/>
          <p:nvPr/>
        </p:nvSpPr>
        <p:spPr>
          <a:xfrm>
            <a:off x="914400" y="8040514"/>
            <a:ext cx="5089273" cy="1132061"/>
          </a:xfrm>
          <a:prstGeom prst="rect">
            <a:avLst/>
          </a:prstGeom>
          <a:noFill/>
          <a:ln/>
        </p:spPr>
        <p:txBody>
          <a:bodyPr wrap="square" lIns="25400" tIns="25400" rIns="25400" bIns="25400" rtlCol="0" anchor="t">
            <a:normAutofit/>
          </a:bodyPr>
          <a:lstStyle/>
          <a:p>
            <a:pPr algn="l" indent="0" marL="0">
              <a:buNone/>
            </a:pPr>
            <a:r>
              <a:rPr lang="en-US" sz="2325" dirty="0">
                <a:solidFill>
                  <a:srgbClr val="616161"/>
                </a:solidFill>
                <a:latin typeface="Courier New" pitchFamily="34" charset="0"/>
                <a:ea typeface="Courier New" pitchFamily="34" charset="-122"/>
                <a:cs typeface="Courier New" pitchFamily="34" charset="-120"/>
              </a:rPr>
              <a:t>[the status quo — always a competitor]</a:t>
            </a:r>
            <a:endParaRPr lang="en-US" sz="2325" dirty="0"/>
          </a:p>
        </p:txBody>
      </p:sp>
      <p:sp>
        <p:nvSpPr>
          <p:cNvPr id="32" name="Shape 30"/>
          <p:cNvSpPr/>
          <p:nvPr/>
        </p:nvSpPr>
        <p:spPr>
          <a:xfrm>
            <a:off x="6151364" y="9363075"/>
            <a:ext cx="3740721" cy="9525"/>
          </a:xfrm>
          <a:prstGeom prst="rect">
            <a:avLst/>
          </a:prstGeom>
          <a:solidFill>
            <a:srgbClr val="DCDCDC"/>
          </a:solidFill>
          <a:ln/>
        </p:spPr>
      </p:sp>
      <p:sp>
        <p:nvSpPr>
          <p:cNvPr id="33" name="Text 31"/>
          <p:cNvSpPr/>
          <p:nvPr/>
        </p:nvSpPr>
        <p:spPr>
          <a:xfrm>
            <a:off x="6151364" y="8040514"/>
            <a:ext cx="3548142" cy="1132061"/>
          </a:xfrm>
          <a:prstGeom prst="rect">
            <a:avLst/>
          </a:prstGeom>
          <a:noFill/>
          <a:ln/>
        </p:spPr>
        <p:txBody>
          <a:bodyPr wrap="square" lIns="25400" tIns="25400" rIns="25400" bIns="25400" rtlCol="0" anchor="t">
            <a:normAutofit/>
          </a:bodyPr>
          <a:lstStyle/>
          <a:p>
            <a:pPr algn="l" indent="0" marL="0">
              <a:buNone/>
            </a:pPr>
            <a:r>
              <a:rPr lang="en-US" sz="2325" dirty="0">
                <a:solidFill>
                  <a:srgbClr val="616161"/>
                </a:solidFill>
                <a:latin typeface="Courier New" pitchFamily="34" charset="0"/>
                <a:ea typeface="Courier New" pitchFamily="34" charset="-122"/>
                <a:cs typeface="Courier New" pitchFamily="34" charset="-120"/>
              </a:rPr>
              <a:t>[yes / partial / no]</a:t>
            </a:r>
            <a:endParaRPr lang="en-US" sz="2325" dirty="0"/>
          </a:p>
        </p:txBody>
      </p:sp>
      <p:sp>
        <p:nvSpPr>
          <p:cNvPr id="34" name="Shape 32"/>
          <p:cNvSpPr/>
          <p:nvPr/>
        </p:nvSpPr>
        <p:spPr>
          <a:xfrm>
            <a:off x="9892085" y="9363075"/>
            <a:ext cx="3740721" cy="9525"/>
          </a:xfrm>
          <a:prstGeom prst="rect">
            <a:avLst/>
          </a:prstGeom>
          <a:solidFill>
            <a:srgbClr val="DCDCDC"/>
          </a:solidFill>
          <a:ln/>
        </p:spPr>
      </p:sp>
      <p:sp>
        <p:nvSpPr>
          <p:cNvPr id="35" name="Text 33"/>
          <p:cNvSpPr/>
          <p:nvPr/>
        </p:nvSpPr>
        <p:spPr>
          <a:xfrm>
            <a:off x="9892085" y="8040514"/>
            <a:ext cx="3548142" cy="1132061"/>
          </a:xfrm>
          <a:prstGeom prst="rect">
            <a:avLst/>
          </a:prstGeom>
          <a:noFill/>
          <a:ln/>
        </p:spPr>
        <p:txBody>
          <a:bodyPr wrap="square" lIns="25400" tIns="25400" rIns="25400" bIns="25400" rtlCol="0" anchor="t">
            <a:normAutofit/>
          </a:bodyPr>
          <a:lstStyle/>
          <a:p>
            <a:pPr algn="l" indent="0" marL="0">
              <a:buNone/>
            </a:pPr>
            <a:r>
              <a:rPr lang="en-US" sz="2325" dirty="0">
                <a:solidFill>
                  <a:srgbClr val="616161"/>
                </a:solidFill>
                <a:latin typeface="Courier New" pitchFamily="34" charset="0"/>
                <a:ea typeface="Courier New" pitchFamily="34" charset="-122"/>
                <a:cs typeface="Courier New" pitchFamily="34" charset="-120"/>
              </a:rPr>
              <a:t>[yes / partial / no]</a:t>
            </a:r>
            <a:endParaRPr lang="en-US" sz="2325" dirty="0"/>
          </a:p>
        </p:txBody>
      </p:sp>
      <p:sp>
        <p:nvSpPr>
          <p:cNvPr id="36" name="Shape 34"/>
          <p:cNvSpPr/>
          <p:nvPr/>
        </p:nvSpPr>
        <p:spPr>
          <a:xfrm>
            <a:off x="13632805" y="9363075"/>
            <a:ext cx="3740721" cy="9525"/>
          </a:xfrm>
          <a:prstGeom prst="rect">
            <a:avLst/>
          </a:prstGeom>
          <a:solidFill>
            <a:srgbClr val="DCDCDC"/>
          </a:solidFill>
          <a:ln/>
        </p:spPr>
      </p:sp>
      <p:sp>
        <p:nvSpPr>
          <p:cNvPr id="37" name="Text 35"/>
          <p:cNvSpPr/>
          <p:nvPr/>
        </p:nvSpPr>
        <p:spPr>
          <a:xfrm>
            <a:off x="13632805" y="8040514"/>
            <a:ext cx="3548142" cy="1132061"/>
          </a:xfrm>
          <a:prstGeom prst="rect">
            <a:avLst/>
          </a:prstGeom>
          <a:noFill/>
          <a:ln/>
        </p:spPr>
        <p:txBody>
          <a:bodyPr wrap="square" lIns="25400" tIns="25400" rIns="25400" bIns="25400" rtlCol="0" anchor="t">
            <a:normAutofit/>
          </a:bodyPr>
          <a:lstStyle/>
          <a:p>
            <a:pPr algn="l" indent="0" marL="0">
              <a:buNone/>
            </a:pPr>
            <a:r>
              <a:rPr lang="en-US" sz="2325" dirty="0">
                <a:solidFill>
                  <a:srgbClr val="616161"/>
                </a:solidFill>
                <a:latin typeface="Courier New" pitchFamily="34" charset="0"/>
                <a:ea typeface="Courier New" pitchFamily="34" charset="-122"/>
                <a:cs typeface="Courier New" pitchFamily="34" charset="-120"/>
              </a:rPr>
              <a:t>[yes / partial / no]</a:t>
            </a:r>
            <a:endParaRPr lang="en-US" sz="232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14400" y="1409700"/>
            <a:ext cx="16459200" cy="9525"/>
          </a:xfrm>
          <a:prstGeom prst="rect">
            <a:avLst/>
          </a:prstGeom>
          <a:solidFill>
            <a:srgbClr val="DCDCDC"/>
          </a:solidFill>
          <a:ln/>
        </p:spPr>
      </p:sp>
      <p:sp>
        <p:nvSpPr>
          <p:cNvPr id="3" name="Text 1"/>
          <p:cNvSpPr/>
          <p:nvPr/>
        </p:nvSpPr>
        <p:spPr>
          <a:xfrm>
            <a:off x="914400" y="914400"/>
            <a:ext cx="1362566" cy="304800"/>
          </a:xfrm>
          <a:prstGeom prst="rect">
            <a:avLst/>
          </a:prstGeom>
          <a:noFill/>
          <a:ln/>
        </p:spPr>
        <p:txBody>
          <a:bodyPr wrap="square" lIns="25400" tIns="25400" rIns="25400" bIns="25400" rtlCol="0" anchor="t">
            <a:normAutofit/>
          </a:bodyPr>
          <a:lstStyle/>
          <a:p>
            <a:pPr algn="l" indent="0" marL="0">
              <a:buNone/>
            </a:pPr>
            <a:r>
              <a:rPr lang="en-US" sz="1800" dirty="0">
                <a:solidFill>
                  <a:srgbClr val="808080"/>
                </a:solidFill>
                <a:latin typeface="Courier New" pitchFamily="34" charset="0"/>
                <a:ea typeface="Courier New" pitchFamily="34" charset="-122"/>
                <a:cs typeface="Courier New" pitchFamily="34" charset="-120"/>
              </a:rPr>
              <a:t>11 · team</a:t>
            </a:r>
            <a:endParaRPr lang="en-US" sz="1800" dirty="0"/>
          </a:p>
        </p:txBody>
      </p:sp>
      <p:sp>
        <p:nvSpPr>
          <p:cNvPr id="4" name="Text 2"/>
          <p:cNvSpPr/>
          <p:nvPr/>
        </p:nvSpPr>
        <p:spPr>
          <a:xfrm>
            <a:off x="15446797" y="914400"/>
            <a:ext cx="2119484" cy="304800"/>
          </a:xfrm>
          <a:prstGeom prst="rect">
            <a:avLst/>
          </a:prstGeom>
          <a:noFill/>
          <a:ln/>
        </p:spPr>
        <p:txBody>
          <a:bodyPr wrap="square" lIns="25400" tIns="25400" rIns="25400" bIns="25400" rtlCol="0" anchor="t">
            <a:normAutofit/>
          </a:bodyPr>
          <a:lstStyle/>
          <a:p>
            <a:pPr algn="l" indent="0" marL="0">
              <a:buNone/>
            </a:pPr>
            <a:r>
              <a:rPr lang="en-US" sz="1800" dirty="0">
                <a:solidFill>
                  <a:srgbClr val="808080"/>
                </a:solidFill>
                <a:latin typeface="Courier New" pitchFamily="34" charset="0"/>
                <a:ea typeface="Courier New" pitchFamily="34" charset="-122"/>
                <a:cs typeface="Courier New" pitchFamily="34" charset="-120"/>
              </a:rPr>
              <a:t>[venture name]</a:t>
            </a:r>
            <a:endParaRPr lang="en-US" sz="1800" dirty="0"/>
          </a:p>
        </p:txBody>
      </p:sp>
      <p:sp>
        <p:nvSpPr>
          <p:cNvPr id="5" name="Text 3"/>
          <p:cNvSpPr/>
          <p:nvPr/>
        </p:nvSpPr>
        <p:spPr>
          <a:xfrm>
            <a:off x="914400" y="1876425"/>
            <a:ext cx="18105120" cy="834330"/>
          </a:xfrm>
          <a:prstGeom prst="rect">
            <a:avLst/>
          </a:prstGeom>
          <a:noFill/>
          <a:ln/>
        </p:spPr>
        <p:txBody>
          <a:bodyPr wrap="square" lIns="25400" tIns="25400" rIns="25400" bIns="25400" rtlCol="0" anchor="t">
            <a:normAutofit/>
          </a:bodyPr>
          <a:lstStyle/>
          <a:p>
            <a:pPr algn="l" indent="0" marL="0">
              <a:lnSpc>
                <a:spcPct val="95543"/>
              </a:lnSpc>
              <a:buNone/>
            </a:pPr>
            <a:r>
              <a:rPr lang="en-US" sz="5700" b="1" dirty="0">
                <a:solidFill>
                  <a:srgbClr val="1A1A1A"/>
                </a:solidFill>
                <a:latin typeface="Arial" pitchFamily="34" charset="0"/>
                <a:ea typeface="Arial" pitchFamily="34" charset="-122"/>
                <a:cs typeface="Arial" pitchFamily="34" charset="-120"/>
              </a:rPr>
              <a:t>Team</a:t>
            </a:r>
            <a:endParaRPr lang="en-US" sz="5700" dirty="0"/>
          </a:p>
        </p:txBody>
      </p:sp>
      <p:sp>
        <p:nvSpPr>
          <p:cNvPr id="6" name="Shape 4"/>
          <p:cNvSpPr/>
          <p:nvPr/>
        </p:nvSpPr>
        <p:spPr>
          <a:xfrm>
            <a:off x="914400" y="3129855"/>
            <a:ext cx="5079950" cy="5079950"/>
          </a:xfrm>
          <a:prstGeom prst="rect">
            <a:avLst/>
          </a:prstGeom>
          <a:solidFill>
            <a:srgbClr val="EDEDED"/>
          </a:solidFill>
          <a:ln w="9525">
            <a:solidFill>
              <a:srgbClr val="C4C4C4"/>
            </a:solidFill>
            <a:prstDash val="solid"/>
          </a:ln>
        </p:spPr>
      </p:sp>
      <p:sp>
        <p:nvSpPr>
          <p:cNvPr id="7" name="Shape 5"/>
          <p:cNvSpPr/>
          <p:nvPr/>
        </p:nvSpPr>
        <p:spPr>
          <a:xfrm>
            <a:off x="2466677" y="5450756"/>
            <a:ext cx="1975396" cy="438150"/>
          </a:xfrm>
          <a:prstGeom prst="rect">
            <a:avLst/>
          </a:prstGeom>
          <a:solidFill>
            <a:srgbClr val="FFFFFF"/>
          </a:solidFill>
          <a:ln w="9525">
            <a:solidFill>
              <a:srgbClr val="C4C4C4"/>
            </a:solidFill>
            <a:prstDash val="solid"/>
          </a:ln>
        </p:spPr>
      </p:sp>
      <p:sp>
        <p:nvSpPr>
          <p:cNvPr id="8" name="Text 6"/>
          <p:cNvSpPr/>
          <p:nvPr/>
        </p:nvSpPr>
        <p:spPr>
          <a:xfrm>
            <a:off x="2628602" y="5536481"/>
            <a:ext cx="1727746" cy="304800"/>
          </a:xfrm>
          <a:prstGeom prst="rect">
            <a:avLst/>
          </a:prstGeom>
          <a:noFill/>
          <a:ln/>
        </p:spPr>
        <p:txBody>
          <a:bodyPr wrap="square" lIns="25400" tIns="25400" rIns="25400" bIns="25400" rtlCol="0" anchor="t">
            <a:normAutofit/>
          </a:bodyPr>
          <a:lstStyle/>
          <a:p>
            <a:pPr algn="l" indent="0" marL="0">
              <a:buNone/>
            </a:pPr>
            <a:r>
              <a:rPr lang="en-US" sz="1800" dirty="0">
                <a:solidFill>
                  <a:srgbClr val="616161"/>
                </a:solidFill>
                <a:latin typeface="Courier New" pitchFamily="34" charset="0"/>
                <a:ea typeface="Courier New" pitchFamily="34" charset="-122"/>
                <a:cs typeface="Courier New" pitchFamily="34" charset="-120"/>
              </a:rPr>
              <a:t>headshot 1:1</a:t>
            </a:r>
            <a:endParaRPr lang="en-US" sz="1800" dirty="0"/>
          </a:p>
        </p:txBody>
      </p:sp>
      <p:sp>
        <p:nvSpPr>
          <p:cNvPr id="9" name="Text 7"/>
          <p:cNvSpPr/>
          <p:nvPr/>
        </p:nvSpPr>
        <p:spPr>
          <a:xfrm>
            <a:off x="914400" y="8438406"/>
            <a:ext cx="5587945" cy="385763"/>
          </a:xfrm>
          <a:prstGeom prst="rect">
            <a:avLst/>
          </a:prstGeom>
          <a:noFill/>
          <a:ln/>
        </p:spPr>
        <p:txBody>
          <a:bodyPr wrap="square" lIns="25400" tIns="25400" rIns="25400" bIns="25400" rtlCol="0" anchor="t">
            <a:normAutofit/>
          </a:bodyPr>
          <a:lstStyle/>
          <a:p>
            <a:pPr algn="l" indent="0" marL="0">
              <a:buNone/>
            </a:pPr>
            <a:r>
              <a:rPr lang="en-US" sz="2325" b="1" dirty="0">
                <a:solidFill>
                  <a:srgbClr val="616161"/>
                </a:solidFill>
                <a:latin typeface="Courier New" pitchFamily="34" charset="0"/>
                <a:ea typeface="Courier New" pitchFamily="34" charset="-122"/>
                <a:cs typeface="Courier New" pitchFamily="34" charset="-120"/>
              </a:rPr>
              <a:t>[name] — [role]</a:t>
            </a:r>
            <a:endParaRPr lang="en-US" sz="2325" dirty="0"/>
          </a:p>
        </p:txBody>
      </p:sp>
      <p:sp>
        <p:nvSpPr>
          <p:cNvPr id="10" name="Text 8"/>
          <p:cNvSpPr/>
          <p:nvPr/>
        </p:nvSpPr>
        <p:spPr>
          <a:xfrm>
            <a:off x="914400" y="9014668"/>
            <a:ext cx="5232349" cy="704850"/>
          </a:xfrm>
          <a:prstGeom prst="rect">
            <a:avLst/>
          </a:prstGeom>
          <a:noFill/>
          <a:ln/>
        </p:spPr>
        <p:txBody>
          <a:bodyPr wrap="square" lIns="25400" tIns="25400" rIns="25400" bIns="25400" rtlCol="0" anchor="t">
            <a:normAutofit/>
          </a:bodyPr>
          <a:lstStyle/>
          <a:p>
            <a:pPr algn="l" indent="0" marL="0">
              <a:lnSpc>
                <a:spcPct val="122807"/>
              </a:lnSpc>
              <a:buNone/>
            </a:pPr>
            <a:r>
              <a:rPr lang="en-US" sz="1875" dirty="0">
                <a:solidFill>
                  <a:srgbClr val="616161"/>
                </a:solidFill>
                <a:latin typeface="Courier New" pitchFamily="34" charset="0"/>
                <a:ea typeface="Courier New" pitchFamily="34" charset="-122"/>
                <a:cs typeface="Courier New" pitchFamily="34" charset="-120"/>
              </a:rPr>
              <a:t>[the one fact that makes them the obvious person for this]</a:t>
            </a:r>
            <a:endParaRPr lang="en-US" sz="1875" dirty="0"/>
          </a:p>
        </p:txBody>
      </p:sp>
      <p:sp>
        <p:nvSpPr>
          <p:cNvPr id="11" name="Shape 9"/>
          <p:cNvSpPr/>
          <p:nvPr/>
        </p:nvSpPr>
        <p:spPr>
          <a:xfrm>
            <a:off x="6603950" y="3129855"/>
            <a:ext cx="5080025" cy="5080025"/>
          </a:xfrm>
          <a:prstGeom prst="rect">
            <a:avLst/>
          </a:prstGeom>
          <a:solidFill>
            <a:srgbClr val="EDEDED"/>
          </a:solidFill>
          <a:ln w="9525">
            <a:solidFill>
              <a:srgbClr val="C4C4C4"/>
            </a:solidFill>
            <a:prstDash val="solid"/>
          </a:ln>
        </p:spPr>
      </p:sp>
      <p:sp>
        <p:nvSpPr>
          <p:cNvPr id="12" name="Shape 10"/>
          <p:cNvSpPr/>
          <p:nvPr/>
        </p:nvSpPr>
        <p:spPr>
          <a:xfrm>
            <a:off x="8156228" y="5450756"/>
            <a:ext cx="1975396" cy="438150"/>
          </a:xfrm>
          <a:prstGeom prst="rect">
            <a:avLst/>
          </a:prstGeom>
          <a:solidFill>
            <a:srgbClr val="FFFFFF"/>
          </a:solidFill>
          <a:ln w="9525">
            <a:solidFill>
              <a:srgbClr val="C4C4C4"/>
            </a:solidFill>
            <a:prstDash val="solid"/>
          </a:ln>
        </p:spPr>
      </p:sp>
      <p:sp>
        <p:nvSpPr>
          <p:cNvPr id="13" name="Text 11"/>
          <p:cNvSpPr/>
          <p:nvPr/>
        </p:nvSpPr>
        <p:spPr>
          <a:xfrm>
            <a:off x="8318153" y="5536481"/>
            <a:ext cx="1727746" cy="304800"/>
          </a:xfrm>
          <a:prstGeom prst="rect">
            <a:avLst/>
          </a:prstGeom>
          <a:noFill/>
          <a:ln/>
        </p:spPr>
        <p:txBody>
          <a:bodyPr wrap="square" lIns="25400" tIns="25400" rIns="25400" bIns="25400" rtlCol="0" anchor="t">
            <a:normAutofit/>
          </a:bodyPr>
          <a:lstStyle/>
          <a:p>
            <a:pPr algn="l" indent="0" marL="0">
              <a:buNone/>
            </a:pPr>
            <a:r>
              <a:rPr lang="en-US" sz="1800" dirty="0">
                <a:solidFill>
                  <a:srgbClr val="616161"/>
                </a:solidFill>
                <a:latin typeface="Courier New" pitchFamily="34" charset="0"/>
                <a:ea typeface="Courier New" pitchFamily="34" charset="-122"/>
                <a:cs typeface="Courier New" pitchFamily="34" charset="-120"/>
              </a:rPr>
              <a:t>headshot 1:1</a:t>
            </a:r>
            <a:endParaRPr lang="en-US" sz="1800" dirty="0"/>
          </a:p>
        </p:txBody>
      </p:sp>
      <p:sp>
        <p:nvSpPr>
          <p:cNvPr id="14" name="Text 12"/>
          <p:cNvSpPr/>
          <p:nvPr/>
        </p:nvSpPr>
        <p:spPr>
          <a:xfrm>
            <a:off x="6603950" y="8438480"/>
            <a:ext cx="5588027" cy="385763"/>
          </a:xfrm>
          <a:prstGeom prst="rect">
            <a:avLst/>
          </a:prstGeom>
          <a:noFill/>
          <a:ln/>
        </p:spPr>
        <p:txBody>
          <a:bodyPr wrap="square" lIns="25400" tIns="25400" rIns="25400" bIns="25400" rtlCol="0" anchor="t">
            <a:normAutofit/>
          </a:bodyPr>
          <a:lstStyle/>
          <a:p>
            <a:pPr algn="l" indent="0" marL="0">
              <a:buNone/>
            </a:pPr>
            <a:r>
              <a:rPr lang="en-US" sz="2325" b="1" dirty="0">
                <a:solidFill>
                  <a:srgbClr val="616161"/>
                </a:solidFill>
                <a:latin typeface="Courier New" pitchFamily="34" charset="0"/>
                <a:ea typeface="Courier New" pitchFamily="34" charset="-122"/>
                <a:cs typeface="Courier New" pitchFamily="34" charset="-120"/>
              </a:rPr>
              <a:t>[name] — [role]</a:t>
            </a:r>
            <a:endParaRPr lang="en-US" sz="2325" dirty="0"/>
          </a:p>
        </p:txBody>
      </p:sp>
      <p:sp>
        <p:nvSpPr>
          <p:cNvPr id="15" name="Text 13"/>
          <p:cNvSpPr/>
          <p:nvPr/>
        </p:nvSpPr>
        <p:spPr>
          <a:xfrm>
            <a:off x="6603950" y="9014743"/>
            <a:ext cx="5232426" cy="704850"/>
          </a:xfrm>
          <a:prstGeom prst="rect">
            <a:avLst/>
          </a:prstGeom>
          <a:noFill/>
          <a:ln/>
        </p:spPr>
        <p:txBody>
          <a:bodyPr wrap="square" lIns="25400" tIns="25400" rIns="25400" bIns="25400" rtlCol="0" anchor="t">
            <a:normAutofit/>
          </a:bodyPr>
          <a:lstStyle/>
          <a:p>
            <a:pPr algn="l" indent="0" marL="0">
              <a:lnSpc>
                <a:spcPct val="122807"/>
              </a:lnSpc>
              <a:buNone/>
            </a:pPr>
            <a:r>
              <a:rPr lang="en-US" sz="1875" dirty="0">
                <a:solidFill>
                  <a:srgbClr val="616161"/>
                </a:solidFill>
                <a:latin typeface="Courier New" pitchFamily="34" charset="0"/>
                <a:ea typeface="Courier New" pitchFamily="34" charset="-122"/>
                <a:cs typeface="Courier New" pitchFamily="34" charset="-120"/>
              </a:rPr>
              <a:t>[the one fact that makes them the obvious person for this]</a:t>
            </a:r>
            <a:endParaRPr lang="en-US" sz="1875" dirty="0"/>
          </a:p>
        </p:txBody>
      </p:sp>
      <p:sp>
        <p:nvSpPr>
          <p:cNvPr id="16" name="Shape 14"/>
          <p:cNvSpPr/>
          <p:nvPr/>
        </p:nvSpPr>
        <p:spPr>
          <a:xfrm>
            <a:off x="12293575" y="3129855"/>
            <a:ext cx="5079950" cy="5079950"/>
          </a:xfrm>
          <a:prstGeom prst="rect">
            <a:avLst/>
          </a:prstGeom>
          <a:ln w="9525">
            <a:solidFill>
              <a:srgbClr val="DCDCDC"/>
            </a:solidFill>
            <a:prstDash val="solid"/>
          </a:ln>
        </p:spPr>
      </p:sp>
      <p:sp>
        <p:nvSpPr>
          <p:cNvPr id="17" name="Text 15"/>
          <p:cNvSpPr/>
          <p:nvPr/>
        </p:nvSpPr>
        <p:spPr>
          <a:xfrm>
            <a:off x="14627051" y="5536481"/>
            <a:ext cx="489124" cy="304800"/>
          </a:xfrm>
          <a:prstGeom prst="rect">
            <a:avLst/>
          </a:prstGeom>
          <a:noFill/>
          <a:ln/>
        </p:spPr>
        <p:txBody>
          <a:bodyPr wrap="square" lIns="25400" tIns="25400" rIns="25400" bIns="25400" rtlCol="0" anchor="t">
            <a:normAutofit/>
          </a:bodyPr>
          <a:lstStyle/>
          <a:p>
            <a:pPr algn="l" indent="0" marL="0">
              <a:buNone/>
            </a:pPr>
            <a:r>
              <a:rPr lang="en-US" sz="1800" dirty="0">
                <a:solidFill>
                  <a:srgbClr val="808080"/>
                </a:solidFill>
                <a:latin typeface="Courier New" pitchFamily="34" charset="0"/>
                <a:ea typeface="Courier New" pitchFamily="34" charset="-122"/>
                <a:cs typeface="Courier New" pitchFamily="34" charset="-120"/>
              </a:rPr>
              <a:t>gap</a:t>
            </a:r>
            <a:endParaRPr lang="en-US" sz="1800" dirty="0"/>
          </a:p>
        </p:txBody>
      </p:sp>
      <p:sp>
        <p:nvSpPr>
          <p:cNvPr id="18" name="Text 16"/>
          <p:cNvSpPr/>
          <p:nvPr/>
        </p:nvSpPr>
        <p:spPr>
          <a:xfrm>
            <a:off x="12293575" y="8438406"/>
            <a:ext cx="5587945" cy="385763"/>
          </a:xfrm>
          <a:prstGeom prst="rect">
            <a:avLst/>
          </a:prstGeom>
          <a:noFill/>
          <a:ln/>
        </p:spPr>
        <p:txBody>
          <a:bodyPr wrap="square" lIns="25400" tIns="25400" rIns="25400" bIns="25400" rtlCol="0" anchor="t">
            <a:normAutofit/>
          </a:bodyPr>
          <a:lstStyle/>
          <a:p>
            <a:pPr algn="l" indent="0" marL="0">
              <a:buNone/>
            </a:pPr>
            <a:r>
              <a:rPr lang="en-US" sz="2325" b="1" dirty="0">
                <a:solidFill>
                  <a:srgbClr val="616161"/>
                </a:solidFill>
                <a:latin typeface="Courier New" pitchFamily="34" charset="0"/>
                <a:ea typeface="Courier New" pitchFamily="34" charset="-122"/>
                <a:cs typeface="Courier New" pitchFamily="34" charset="-120"/>
              </a:rPr>
              <a:t>[the role this round hires]</a:t>
            </a:r>
            <a:endParaRPr lang="en-US" sz="2325" dirty="0"/>
          </a:p>
        </p:txBody>
      </p:sp>
      <p:sp>
        <p:nvSpPr>
          <p:cNvPr id="19" name="Text 17"/>
          <p:cNvSpPr/>
          <p:nvPr/>
        </p:nvSpPr>
        <p:spPr>
          <a:xfrm>
            <a:off x="12293575" y="9014668"/>
            <a:ext cx="5232349" cy="704850"/>
          </a:xfrm>
          <a:prstGeom prst="rect">
            <a:avLst/>
          </a:prstGeom>
          <a:noFill/>
          <a:ln/>
        </p:spPr>
        <p:txBody>
          <a:bodyPr wrap="square" lIns="25400" tIns="25400" rIns="25400" bIns="25400" rtlCol="0" anchor="t">
            <a:normAutofit/>
          </a:bodyPr>
          <a:lstStyle/>
          <a:p>
            <a:pPr algn="l" indent="0" marL="0">
              <a:lnSpc>
                <a:spcPct val="122807"/>
              </a:lnSpc>
              <a:buNone/>
            </a:pPr>
            <a:r>
              <a:rPr lang="en-US" sz="1875" dirty="0">
                <a:solidFill>
                  <a:srgbClr val="616161"/>
                </a:solidFill>
                <a:latin typeface="Courier New" pitchFamily="34" charset="0"/>
                <a:ea typeface="Courier New" pitchFamily="34" charset="-122"/>
                <a:cs typeface="Courier New" pitchFamily="34" charset="-120"/>
              </a:rPr>
              <a:t>[why it is the next hire and not a later one]</a:t>
            </a:r>
            <a:endParaRPr lang="en-US" sz="187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14400" y="1409700"/>
            <a:ext cx="16459200" cy="9525"/>
          </a:xfrm>
          <a:prstGeom prst="rect">
            <a:avLst/>
          </a:prstGeom>
          <a:solidFill>
            <a:srgbClr val="DCDCDC"/>
          </a:solidFill>
          <a:ln/>
        </p:spPr>
      </p:sp>
      <p:sp>
        <p:nvSpPr>
          <p:cNvPr id="3" name="Text 1"/>
          <p:cNvSpPr/>
          <p:nvPr/>
        </p:nvSpPr>
        <p:spPr>
          <a:xfrm>
            <a:off x="914400" y="914400"/>
            <a:ext cx="1816700" cy="304800"/>
          </a:xfrm>
          <a:prstGeom prst="rect">
            <a:avLst/>
          </a:prstGeom>
          <a:noFill/>
          <a:ln/>
        </p:spPr>
        <p:txBody>
          <a:bodyPr wrap="square" lIns="25400" tIns="25400" rIns="25400" bIns="25400" rtlCol="0" anchor="t">
            <a:normAutofit/>
          </a:bodyPr>
          <a:lstStyle/>
          <a:p>
            <a:pPr algn="l" indent="0" marL="0">
              <a:buNone/>
            </a:pPr>
            <a:r>
              <a:rPr lang="en-US" sz="1800" dirty="0">
                <a:solidFill>
                  <a:srgbClr val="808080"/>
                </a:solidFill>
                <a:latin typeface="Courier New" pitchFamily="34" charset="0"/>
                <a:ea typeface="Courier New" pitchFamily="34" charset="-122"/>
                <a:cs typeface="Courier New" pitchFamily="34" charset="-120"/>
              </a:rPr>
              <a:t>12 · the ask</a:t>
            </a:r>
            <a:endParaRPr lang="en-US" sz="1800" dirty="0"/>
          </a:p>
        </p:txBody>
      </p:sp>
      <p:sp>
        <p:nvSpPr>
          <p:cNvPr id="4" name="Text 2"/>
          <p:cNvSpPr/>
          <p:nvPr/>
        </p:nvSpPr>
        <p:spPr>
          <a:xfrm>
            <a:off x="15446797" y="914400"/>
            <a:ext cx="2119484" cy="304800"/>
          </a:xfrm>
          <a:prstGeom prst="rect">
            <a:avLst/>
          </a:prstGeom>
          <a:noFill/>
          <a:ln/>
        </p:spPr>
        <p:txBody>
          <a:bodyPr wrap="square" lIns="25400" tIns="25400" rIns="25400" bIns="25400" rtlCol="0" anchor="t">
            <a:normAutofit/>
          </a:bodyPr>
          <a:lstStyle/>
          <a:p>
            <a:pPr algn="l" indent="0" marL="0">
              <a:buNone/>
            </a:pPr>
            <a:r>
              <a:rPr lang="en-US" sz="1800" dirty="0">
                <a:solidFill>
                  <a:srgbClr val="808080"/>
                </a:solidFill>
                <a:latin typeface="Courier New" pitchFamily="34" charset="0"/>
                <a:ea typeface="Courier New" pitchFamily="34" charset="-122"/>
                <a:cs typeface="Courier New" pitchFamily="34" charset="-120"/>
              </a:rPr>
              <a:t>[venture name]</a:t>
            </a:r>
            <a:endParaRPr lang="en-US" sz="1800" dirty="0"/>
          </a:p>
        </p:txBody>
      </p:sp>
      <p:sp>
        <p:nvSpPr>
          <p:cNvPr id="5" name="Text 3"/>
          <p:cNvSpPr/>
          <p:nvPr/>
        </p:nvSpPr>
        <p:spPr>
          <a:xfrm>
            <a:off x="914400" y="1876425"/>
            <a:ext cx="18105120" cy="304800"/>
          </a:xfrm>
          <a:prstGeom prst="rect">
            <a:avLst/>
          </a:prstGeom>
          <a:noFill/>
          <a:ln/>
        </p:spPr>
        <p:txBody>
          <a:bodyPr wrap="square" lIns="25400" tIns="25400" rIns="25400" bIns="25400" rtlCol="0" anchor="t">
            <a:normAutofit/>
          </a:bodyPr>
          <a:lstStyle/>
          <a:p>
            <a:pPr algn="l" indent="0" marL="0">
              <a:buNone/>
            </a:pPr>
            <a:r>
              <a:rPr lang="en-US" sz="1800" dirty="0">
                <a:solidFill>
                  <a:srgbClr val="808080"/>
                </a:solidFill>
                <a:latin typeface="Courier New" pitchFamily="34" charset="0"/>
                <a:ea typeface="Courier New" pitchFamily="34" charset="-122"/>
                <a:cs typeface="Courier New" pitchFamily="34" charset="-120"/>
              </a:rPr>
              <a:t>raising a seed round of</a:t>
            </a:r>
            <a:endParaRPr lang="en-US" sz="1800" dirty="0"/>
          </a:p>
        </p:txBody>
      </p:sp>
      <p:sp>
        <p:nvSpPr>
          <p:cNvPr id="6" name="Text 4"/>
          <p:cNvSpPr/>
          <p:nvPr/>
        </p:nvSpPr>
        <p:spPr>
          <a:xfrm>
            <a:off x="914400" y="2295525"/>
            <a:ext cx="18105120" cy="1284908"/>
          </a:xfrm>
          <a:prstGeom prst="rect">
            <a:avLst/>
          </a:prstGeom>
          <a:noFill/>
          <a:ln/>
        </p:spPr>
        <p:txBody>
          <a:bodyPr wrap="square" lIns="25400" tIns="25400" rIns="25400" bIns="25400" rtlCol="0" anchor="t">
            <a:normAutofit/>
          </a:bodyPr>
          <a:lstStyle/>
          <a:p>
            <a:pPr algn="l" indent="0" marL="0">
              <a:lnSpc>
                <a:spcPct val="97323"/>
              </a:lnSpc>
              <a:buNone/>
            </a:pPr>
            <a:r>
              <a:rPr lang="en-US" sz="8925" b="1" dirty="0">
                <a:solidFill>
                  <a:srgbClr val="616161"/>
                </a:solidFill>
                <a:latin typeface="Courier New" pitchFamily="34" charset="0"/>
                <a:ea typeface="Courier New" pitchFamily="34" charset="-122"/>
                <a:cs typeface="Courier New" pitchFamily="34" charset="-120"/>
              </a:rPr>
              <a:t>[$0.0m]</a:t>
            </a:r>
            <a:endParaRPr lang="en-US" sz="8925" dirty="0"/>
          </a:p>
        </p:txBody>
      </p:sp>
      <p:sp>
        <p:nvSpPr>
          <p:cNvPr id="7" name="Text 5"/>
          <p:cNvSpPr/>
          <p:nvPr/>
        </p:nvSpPr>
        <p:spPr>
          <a:xfrm>
            <a:off x="914400" y="3694733"/>
            <a:ext cx="18105120" cy="304800"/>
          </a:xfrm>
          <a:prstGeom prst="rect">
            <a:avLst/>
          </a:prstGeom>
          <a:noFill/>
          <a:ln/>
        </p:spPr>
        <p:txBody>
          <a:bodyPr wrap="square" lIns="25400" tIns="25400" rIns="25400" bIns="25400" rtlCol="0" anchor="t">
            <a:normAutofit/>
          </a:bodyPr>
          <a:lstStyle/>
          <a:p>
            <a:pPr algn="l" indent="0" marL="0">
              <a:buNone/>
            </a:pPr>
            <a:r>
              <a:rPr lang="en-US" sz="1800" dirty="0">
                <a:solidFill>
                  <a:srgbClr val="808080"/>
                </a:solidFill>
                <a:latin typeface="Courier New" pitchFamily="34" charset="0"/>
                <a:ea typeface="Courier New" pitchFamily="34" charset="-122"/>
                <a:cs typeface="Courier New" pitchFamily="34" charset="-120"/>
              </a:rPr>
              <a:t>[pre / post money] · [instrument] · [amount committed to date]</a:t>
            </a:r>
            <a:endParaRPr lang="en-US" sz="1800" dirty="0"/>
          </a:p>
        </p:txBody>
      </p:sp>
      <p:sp>
        <p:nvSpPr>
          <p:cNvPr id="8" name="Shape 6"/>
          <p:cNvSpPr/>
          <p:nvPr/>
        </p:nvSpPr>
        <p:spPr>
          <a:xfrm>
            <a:off x="914400" y="7634288"/>
            <a:ext cx="7772400" cy="9525"/>
          </a:xfrm>
          <a:prstGeom prst="rect">
            <a:avLst/>
          </a:prstGeom>
          <a:solidFill>
            <a:srgbClr val="DCDCDC"/>
          </a:solidFill>
          <a:ln/>
        </p:spPr>
      </p:sp>
      <p:sp>
        <p:nvSpPr>
          <p:cNvPr id="9" name="Text 7"/>
          <p:cNvSpPr/>
          <p:nvPr/>
        </p:nvSpPr>
        <p:spPr>
          <a:xfrm>
            <a:off x="914400" y="7215188"/>
            <a:ext cx="8005572" cy="304800"/>
          </a:xfrm>
          <a:prstGeom prst="rect">
            <a:avLst/>
          </a:prstGeom>
          <a:noFill/>
          <a:ln/>
        </p:spPr>
        <p:txBody>
          <a:bodyPr wrap="square" lIns="25400" tIns="25400" rIns="25400" bIns="25400" rtlCol="0" anchor="t">
            <a:normAutofit/>
          </a:bodyPr>
          <a:lstStyle/>
          <a:p>
            <a:pPr algn="l" indent="0" marL="0">
              <a:buNone/>
            </a:pPr>
            <a:r>
              <a:rPr lang="en-US" sz="1800" dirty="0">
                <a:solidFill>
                  <a:srgbClr val="808080"/>
                </a:solidFill>
                <a:latin typeface="Courier New" pitchFamily="34" charset="0"/>
                <a:ea typeface="Courier New" pitchFamily="34" charset="-122"/>
                <a:cs typeface="Courier New" pitchFamily="34" charset="-120"/>
              </a:rPr>
              <a:t>use of funds</a:t>
            </a:r>
            <a:endParaRPr lang="en-US" sz="1800" dirty="0"/>
          </a:p>
        </p:txBody>
      </p:sp>
      <p:sp>
        <p:nvSpPr>
          <p:cNvPr id="10" name="Text 8"/>
          <p:cNvSpPr/>
          <p:nvPr/>
        </p:nvSpPr>
        <p:spPr>
          <a:xfrm>
            <a:off x="914400" y="7872413"/>
            <a:ext cx="7236596" cy="385763"/>
          </a:xfrm>
          <a:prstGeom prst="rect">
            <a:avLst/>
          </a:prstGeom>
          <a:noFill/>
          <a:ln/>
        </p:spPr>
        <p:txBody>
          <a:bodyPr wrap="square" lIns="25400" tIns="25400" rIns="25400" bIns="25400" rtlCol="0" anchor="t">
            <a:normAutofit/>
          </a:bodyPr>
          <a:lstStyle/>
          <a:p>
            <a:pPr algn="l" indent="0" marL="0">
              <a:buNone/>
            </a:pPr>
            <a:r>
              <a:rPr lang="en-US" sz="2325" dirty="0">
                <a:solidFill>
                  <a:srgbClr val="616161"/>
                </a:solidFill>
                <a:latin typeface="Courier New" pitchFamily="34" charset="0"/>
                <a:ea typeface="Courier New" pitchFamily="34" charset="-122"/>
                <a:cs typeface="Courier New" pitchFamily="34" charset="-120"/>
              </a:rPr>
              <a:t>[category]</a:t>
            </a:r>
            <a:endParaRPr lang="en-US" sz="2325" dirty="0"/>
          </a:p>
        </p:txBody>
      </p:sp>
      <p:sp>
        <p:nvSpPr>
          <p:cNvPr id="11" name="Text 9"/>
          <p:cNvSpPr/>
          <p:nvPr/>
        </p:nvSpPr>
        <p:spPr>
          <a:xfrm>
            <a:off x="7797924" y="7872413"/>
            <a:ext cx="965076" cy="385763"/>
          </a:xfrm>
          <a:prstGeom prst="rect">
            <a:avLst/>
          </a:prstGeom>
          <a:noFill/>
          <a:ln/>
        </p:spPr>
        <p:txBody>
          <a:bodyPr wrap="square" lIns="25400" tIns="25400" rIns="25400" bIns="25400" rtlCol="0" anchor="t">
            <a:normAutofit/>
          </a:bodyPr>
          <a:lstStyle/>
          <a:p>
            <a:pPr algn="l" indent="0" marL="0">
              <a:buNone/>
            </a:pPr>
            <a:r>
              <a:rPr lang="en-US" sz="2325" dirty="0">
                <a:solidFill>
                  <a:srgbClr val="616161"/>
                </a:solidFill>
                <a:latin typeface="Courier New" pitchFamily="34" charset="0"/>
                <a:ea typeface="Courier New" pitchFamily="34" charset="-122"/>
                <a:cs typeface="Courier New" pitchFamily="34" charset="-120"/>
              </a:rPr>
              <a:t>[00%]</a:t>
            </a:r>
            <a:endParaRPr lang="en-US" sz="2325" dirty="0"/>
          </a:p>
        </p:txBody>
      </p:sp>
      <p:sp>
        <p:nvSpPr>
          <p:cNvPr id="12" name="Text 10"/>
          <p:cNvSpPr/>
          <p:nvPr/>
        </p:nvSpPr>
        <p:spPr>
          <a:xfrm>
            <a:off x="914400" y="8448675"/>
            <a:ext cx="7236596" cy="385763"/>
          </a:xfrm>
          <a:prstGeom prst="rect">
            <a:avLst/>
          </a:prstGeom>
          <a:noFill/>
          <a:ln/>
        </p:spPr>
        <p:txBody>
          <a:bodyPr wrap="square" lIns="25400" tIns="25400" rIns="25400" bIns="25400" rtlCol="0" anchor="t">
            <a:normAutofit/>
          </a:bodyPr>
          <a:lstStyle/>
          <a:p>
            <a:pPr algn="l" indent="0" marL="0">
              <a:buNone/>
            </a:pPr>
            <a:r>
              <a:rPr lang="en-US" sz="2325" dirty="0">
                <a:solidFill>
                  <a:srgbClr val="616161"/>
                </a:solidFill>
                <a:latin typeface="Courier New" pitchFamily="34" charset="0"/>
                <a:ea typeface="Courier New" pitchFamily="34" charset="-122"/>
                <a:cs typeface="Courier New" pitchFamily="34" charset="-120"/>
              </a:rPr>
              <a:t>[category]</a:t>
            </a:r>
            <a:endParaRPr lang="en-US" sz="2325" dirty="0"/>
          </a:p>
        </p:txBody>
      </p:sp>
      <p:sp>
        <p:nvSpPr>
          <p:cNvPr id="13" name="Text 11"/>
          <p:cNvSpPr/>
          <p:nvPr/>
        </p:nvSpPr>
        <p:spPr>
          <a:xfrm>
            <a:off x="7797924" y="8448675"/>
            <a:ext cx="965076" cy="385763"/>
          </a:xfrm>
          <a:prstGeom prst="rect">
            <a:avLst/>
          </a:prstGeom>
          <a:noFill/>
          <a:ln/>
        </p:spPr>
        <p:txBody>
          <a:bodyPr wrap="square" lIns="25400" tIns="25400" rIns="25400" bIns="25400" rtlCol="0" anchor="t">
            <a:normAutofit/>
          </a:bodyPr>
          <a:lstStyle/>
          <a:p>
            <a:pPr algn="l" indent="0" marL="0">
              <a:buNone/>
            </a:pPr>
            <a:r>
              <a:rPr lang="en-US" sz="2325" dirty="0">
                <a:solidFill>
                  <a:srgbClr val="616161"/>
                </a:solidFill>
                <a:latin typeface="Courier New" pitchFamily="34" charset="0"/>
                <a:ea typeface="Courier New" pitchFamily="34" charset="-122"/>
                <a:cs typeface="Courier New" pitchFamily="34" charset="-120"/>
              </a:rPr>
              <a:t>[00%]</a:t>
            </a:r>
            <a:endParaRPr lang="en-US" sz="2325" dirty="0"/>
          </a:p>
        </p:txBody>
      </p:sp>
      <p:sp>
        <p:nvSpPr>
          <p:cNvPr id="14" name="Text 12"/>
          <p:cNvSpPr/>
          <p:nvPr/>
        </p:nvSpPr>
        <p:spPr>
          <a:xfrm>
            <a:off x="914400" y="9024938"/>
            <a:ext cx="7236596" cy="385763"/>
          </a:xfrm>
          <a:prstGeom prst="rect">
            <a:avLst/>
          </a:prstGeom>
          <a:noFill/>
          <a:ln/>
        </p:spPr>
        <p:txBody>
          <a:bodyPr wrap="square" lIns="25400" tIns="25400" rIns="25400" bIns="25400" rtlCol="0" anchor="t">
            <a:normAutofit/>
          </a:bodyPr>
          <a:lstStyle/>
          <a:p>
            <a:pPr algn="l" indent="0" marL="0">
              <a:buNone/>
            </a:pPr>
            <a:r>
              <a:rPr lang="en-US" sz="2325" dirty="0">
                <a:solidFill>
                  <a:srgbClr val="616161"/>
                </a:solidFill>
                <a:latin typeface="Courier New" pitchFamily="34" charset="0"/>
                <a:ea typeface="Courier New" pitchFamily="34" charset="-122"/>
                <a:cs typeface="Courier New" pitchFamily="34" charset="-120"/>
              </a:rPr>
              <a:t>[category]</a:t>
            </a:r>
            <a:endParaRPr lang="en-US" sz="2325" dirty="0"/>
          </a:p>
        </p:txBody>
      </p:sp>
      <p:sp>
        <p:nvSpPr>
          <p:cNvPr id="15" name="Text 13"/>
          <p:cNvSpPr/>
          <p:nvPr/>
        </p:nvSpPr>
        <p:spPr>
          <a:xfrm>
            <a:off x="7797924" y="9024938"/>
            <a:ext cx="965076" cy="385763"/>
          </a:xfrm>
          <a:prstGeom prst="rect">
            <a:avLst/>
          </a:prstGeom>
          <a:noFill/>
          <a:ln/>
        </p:spPr>
        <p:txBody>
          <a:bodyPr wrap="square" lIns="25400" tIns="25400" rIns="25400" bIns="25400" rtlCol="0" anchor="t">
            <a:normAutofit/>
          </a:bodyPr>
          <a:lstStyle/>
          <a:p>
            <a:pPr algn="l" indent="0" marL="0">
              <a:buNone/>
            </a:pPr>
            <a:r>
              <a:rPr lang="en-US" sz="2325" dirty="0">
                <a:solidFill>
                  <a:srgbClr val="616161"/>
                </a:solidFill>
                <a:latin typeface="Courier New" pitchFamily="34" charset="0"/>
                <a:ea typeface="Courier New" pitchFamily="34" charset="-122"/>
                <a:cs typeface="Courier New" pitchFamily="34" charset="-120"/>
              </a:rPr>
              <a:t>[00%]</a:t>
            </a:r>
            <a:endParaRPr lang="en-US" sz="2325" dirty="0"/>
          </a:p>
        </p:txBody>
      </p:sp>
      <p:sp>
        <p:nvSpPr>
          <p:cNvPr id="16" name="Shape 14"/>
          <p:cNvSpPr/>
          <p:nvPr/>
        </p:nvSpPr>
        <p:spPr>
          <a:xfrm>
            <a:off x="9601200" y="7634288"/>
            <a:ext cx="7772400" cy="9525"/>
          </a:xfrm>
          <a:prstGeom prst="rect">
            <a:avLst/>
          </a:prstGeom>
          <a:solidFill>
            <a:srgbClr val="DCDCDC"/>
          </a:solidFill>
          <a:ln/>
        </p:spPr>
      </p:sp>
      <p:sp>
        <p:nvSpPr>
          <p:cNvPr id="17" name="Text 15"/>
          <p:cNvSpPr/>
          <p:nvPr/>
        </p:nvSpPr>
        <p:spPr>
          <a:xfrm>
            <a:off x="9601200" y="7215188"/>
            <a:ext cx="8005572" cy="304800"/>
          </a:xfrm>
          <a:prstGeom prst="rect">
            <a:avLst/>
          </a:prstGeom>
          <a:noFill/>
          <a:ln/>
        </p:spPr>
        <p:txBody>
          <a:bodyPr wrap="square" lIns="25400" tIns="25400" rIns="25400" bIns="25400" rtlCol="0" anchor="t">
            <a:normAutofit/>
          </a:bodyPr>
          <a:lstStyle/>
          <a:p>
            <a:pPr algn="l" indent="0" marL="0">
              <a:buNone/>
            </a:pPr>
            <a:r>
              <a:rPr lang="en-US" sz="1800" dirty="0">
                <a:solidFill>
                  <a:srgbClr val="808080"/>
                </a:solidFill>
                <a:latin typeface="Courier New" pitchFamily="34" charset="0"/>
                <a:ea typeface="Courier New" pitchFamily="34" charset="-122"/>
                <a:cs typeface="Courier New" pitchFamily="34" charset="-120"/>
              </a:rPr>
              <a:t>what it buys</a:t>
            </a:r>
            <a:endParaRPr lang="en-US" sz="1800" dirty="0"/>
          </a:p>
        </p:txBody>
      </p:sp>
      <p:sp>
        <p:nvSpPr>
          <p:cNvPr id="18" name="Text 16"/>
          <p:cNvSpPr/>
          <p:nvPr/>
        </p:nvSpPr>
        <p:spPr>
          <a:xfrm>
            <a:off x="9601200" y="7872413"/>
            <a:ext cx="8005572" cy="864840"/>
          </a:xfrm>
          <a:prstGeom prst="rect">
            <a:avLst/>
          </a:prstGeom>
          <a:noFill/>
          <a:ln/>
        </p:spPr>
        <p:txBody>
          <a:bodyPr wrap="square" lIns="25400" tIns="25400" rIns="25400" bIns="25400" rtlCol="0" anchor="t">
            <a:normAutofit/>
          </a:bodyPr>
          <a:lstStyle/>
          <a:p>
            <a:pPr algn="l" indent="0" marL="0">
              <a:lnSpc>
                <a:spcPct val="122254"/>
              </a:lnSpc>
              <a:buNone/>
            </a:pPr>
            <a:r>
              <a:rPr lang="en-US" sz="2325" dirty="0">
                <a:solidFill>
                  <a:srgbClr val="616161"/>
                </a:solidFill>
                <a:latin typeface="Courier New" pitchFamily="34" charset="0"/>
                <a:ea typeface="Courier New" pitchFamily="34" charset="-122"/>
                <a:cs typeface="Courier New" pitchFamily="34" charset="-120"/>
              </a:rPr>
              <a:t>[the milestone that makes the next round obvious, and the month you reach it]</a:t>
            </a:r>
            <a:endParaRPr lang="en-US" sz="232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1A1A"/>
        </a:solidFill>
      </p:bgPr>
    </p:bg>
    <p:spTree>
      <p:nvGrpSpPr>
        <p:cNvPr id="1" name=""/>
        <p:cNvGrpSpPr/>
        <p:nvPr/>
      </p:nvGrpSpPr>
      <p:grpSpPr>
        <a:xfrm>
          <a:off x="0" y="0"/>
          <a:ext cx="0" cy="0"/>
          <a:chOff x="0" y="0"/>
          <a:chExt cx="0" cy="0"/>
        </a:xfrm>
      </p:grpSpPr>
      <p:sp>
        <p:nvSpPr>
          <p:cNvPr id="2" name="Shape 0"/>
          <p:cNvSpPr/>
          <p:nvPr/>
        </p:nvSpPr>
        <p:spPr>
          <a:xfrm>
            <a:off x="914400" y="1409700"/>
            <a:ext cx="16459200" cy="9525"/>
          </a:xfrm>
          <a:prstGeom prst="rect">
            <a:avLst/>
          </a:prstGeom>
          <a:solidFill>
            <a:srgbClr val="474747"/>
          </a:solidFill>
          <a:ln/>
        </p:spPr>
      </p:sp>
      <p:sp>
        <p:nvSpPr>
          <p:cNvPr id="3" name="Text 1"/>
          <p:cNvSpPr/>
          <p:nvPr/>
        </p:nvSpPr>
        <p:spPr>
          <a:xfrm>
            <a:off x="914400" y="914400"/>
            <a:ext cx="1513917" cy="304800"/>
          </a:xfrm>
          <a:prstGeom prst="rect">
            <a:avLst/>
          </a:prstGeom>
          <a:noFill/>
          <a:ln/>
        </p:spPr>
        <p:txBody>
          <a:bodyPr wrap="square" lIns="25400" tIns="25400" rIns="25400" bIns="25400" rtlCol="0" anchor="t">
            <a:normAutofit/>
          </a:bodyPr>
          <a:lstStyle/>
          <a:p>
            <a:pPr algn="l" indent="0" marL="0">
              <a:buNone/>
            </a:pPr>
            <a:r>
              <a:rPr lang="en-US" sz="1800" dirty="0">
                <a:solidFill>
                  <a:srgbClr val="A3A3A3"/>
                </a:solidFill>
                <a:latin typeface="Courier New" pitchFamily="34" charset="0"/>
                <a:ea typeface="Courier New" pitchFamily="34" charset="-122"/>
                <a:cs typeface="Courier New" pitchFamily="34" charset="-120"/>
              </a:rPr>
              <a:t>13 · close</a:t>
            </a:r>
            <a:endParaRPr lang="en-US" sz="1800" dirty="0"/>
          </a:p>
        </p:txBody>
      </p:sp>
      <p:sp>
        <p:nvSpPr>
          <p:cNvPr id="4" name="Text 2"/>
          <p:cNvSpPr/>
          <p:nvPr/>
        </p:nvSpPr>
        <p:spPr>
          <a:xfrm>
            <a:off x="15446797" y="914400"/>
            <a:ext cx="2119484" cy="304800"/>
          </a:xfrm>
          <a:prstGeom prst="rect">
            <a:avLst/>
          </a:prstGeom>
          <a:noFill/>
          <a:ln/>
        </p:spPr>
        <p:txBody>
          <a:bodyPr wrap="square" lIns="25400" tIns="25400" rIns="25400" bIns="25400" rtlCol="0" anchor="t">
            <a:normAutofit/>
          </a:bodyPr>
          <a:lstStyle/>
          <a:p>
            <a:pPr algn="l" indent="0" marL="0">
              <a:buNone/>
            </a:pPr>
            <a:r>
              <a:rPr lang="en-US" sz="1800" dirty="0">
                <a:solidFill>
                  <a:srgbClr val="A3A3A3"/>
                </a:solidFill>
                <a:latin typeface="Courier New" pitchFamily="34" charset="0"/>
                <a:ea typeface="Courier New" pitchFamily="34" charset="-122"/>
                <a:cs typeface="Courier New" pitchFamily="34" charset="-120"/>
              </a:rPr>
              <a:t>[venture name]</a:t>
            </a:r>
            <a:endParaRPr lang="en-US" sz="1800" dirty="0"/>
          </a:p>
        </p:txBody>
      </p:sp>
      <p:sp>
        <p:nvSpPr>
          <p:cNvPr id="5" name="Text 3"/>
          <p:cNvSpPr/>
          <p:nvPr/>
        </p:nvSpPr>
        <p:spPr>
          <a:xfrm>
            <a:off x="914400" y="3868638"/>
            <a:ext cx="14716125" cy="1630561"/>
          </a:xfrm>
          <a:prstGeom prst="rect">
            <a:avLst/>
          </a:prstGeom>
          <a:noFill/>
          <a:ln/>
        </p:spPr>
        <p:txBody>
          <a:bodyPr wrap="square" lIns="25400" tIns="25400" rIns="25400" bIns="25400" rtlCol="0" anchor="t">
            <a:normAutofit/>
          </a:bodyPr>
          <a:lstStyle/>
          <a:p>
            <a:pPr algn="l" indent="0" marL="0">
              <a:lnSpc>
                <a:spcPct val="96647"/>
              </a:lnSpc>
              <a:buNone/>
            </a:pPr>
            <a:r>
              <a:rPr lang="en-US" sz="5700" b="1" dirty="0">
                <a:solidFill>
                  <a:srgbClr val="A3A3A3"/>
                </a:solidFill>
                <a:latin typeface="Courier New" pitchFamily="34" charset="0"/>
                <a:ea typeface="Courier New" pitchFamily="34" charset="-122"/>
                <a:cs typeface="Courier New" pitchFamily="34" charset="-120"/>
              </a:rPr>
              <a:t>[the one thing you want remembered]</a:t>
            </a:r>
            <a:endParaRPr lang="en-US" sz="5700" dirty="0"/>
          </a:p>
        </p:txBody>
      </p:sp>
      <p:sp>
        <p:nvSpPr>
          <p:cNvPr id="6" name="Text 4"/>
          <p:cNvSpPr/>
          <p:nvPr/>
        </p:nvSpPr>
        <p:spPr>
          <a:xfrm>
            <a:off x="914400" y="6070699"/>
            <a:ext cx="1142851" cy="385763"/>
          </a:xfrm>
          <a:prstGeom prst="rect">
            <a:avLst/>
          </a:prstGeom>
          <a:noFill/>
          <a:ln/>
        </p:spPr>
        <p:txBody>
          <a:bodyPr wrap="square" lIns="25400" tIns="25400" rIns="25400" bIns="25400" rtlCol="0" anchor="t">
            <a:normAutofit/>
          </a:bodyPr>
          <a:lstStyle/>
          <a:p>
            <a:pPr algn="l" indent="0" marL="0">
              <a:buNone/>
            </a:pPr>
            <a:r>
              <a:rPr lang="en-US" sz="2325" dirty="0">
                <a:solidFill>
                  <a:srgbClr val="A3A3A3"/>
                </a:solidFill>
                <a:latin typeface="Courier New" pitchFamily="34" charset="0"/>
                <a:ea typeface="Courier New" pitchFamily="34" charset="-122"/>
                <a:cs typeface="Courier New" pitchFamily="34" charset="-120"/>
              </a:rPr>
              <a:t>[name]</a:t>
            </a:r>
            <a:endParaRPr lang="en-US" sz="2325" dirty="0"/>
          </a:p>
        </p:txBody>
      </p:sp>
      <p:sp>
        <p:nvSpPr>
          <p:cNvPr id="7" name="Text 5"/>
          <p:cNvSpPr/>
          <p:nvPr/>
        </p:nvSpPr>
        <p:spPr>
          <a:xfrm>
            <a:off x="2895451" y="6070699"/>
            <a:ext cx="1368869" cy="385763"/>
          </a:xfrm>
          <a:prstGeom prst="rect">
            <a:avLst/>
          </a:prstGeom>
          <a:noFill/>
          <a:ln/>
        </p:spPr>
        <p:txBody>
          <a:bodyPr wrap="square" lIns="25400" tIns="25400" rIns="25400" bIns="25400" rtlCol="0" anchor="t">
            <a:normAutofit/>
          </a:bodyPr>
          <a:lstStyle/>
          <a:p>
            <a:pPr algn="l" indent="0" marL="0">
              <a:buNone/>
            </a:pPr>
            <a:r>
              <a:rPr lang="en-US" sz="2325" dirty="0">
                <a:solidFill>
                  <a:srgbClr val="A3A3A3"/>
                </a:solidFill>
                <a:latin typeface="Courier New" pitchFamily="34" charset="0"/>
                <a:ea typeface="Courier New" pitchFamily="34" charset="-122"/>
                <a:cs typeface="Courier New" pitchFamily="34" charset="-120"/>
              </a:rPr>
              <a:t>[email]</a:t>
            </a:r>
            <a:endParaRPr lang="en-US" sz="2325" dirty="0"/>
          </a:p>
        </p:txBody>
      </p:sp>
      <p:sp>
        <p:nvSpPr>
          <p:cNvPr id="8" name="Text 6"/>
          <p:cNvSpPr/>
          <p:nvPr/>
        </p:nvSpPr>
        <p:spPr>
          <a:xfrm>
            <a:off x="5054278" y="6070699"/>
            <a:ext cx="1368869" cy="385763"/>
          </a:xfrm>
          <a:prstGeom prst="rect">
            <a:avLst/>
          </a:prstGeom>
          <a:noFill/>
          <a:ln/>
        </p:spPr>
        <p:txBody>
          <a:bodyPr wrap="square" lIns="25400" tIns="25400" rIns="25400" bIns="25400" rtlCol="0" anchor="t">
            <a:normAutofit/>
          </a:bodyPr>
          <a:lstStyle/>
          <a:p>
            <a:pPr algn="l" indent="0" marL="0">
              <a:buNone/>
            </a:pPr>
            <a:r>
              <a:rPr lang="en-US" sz="2325" dirty="0">
                <a:solidFill>
                  <a:srgbClr val="A3A3A3"/>
                </a:solidFill>
                <a:latin typeface="Courier New" pitchFamily="34" charset="0"/>
                <a:ea typeface="Courier New" pitchFamily="34" charset="-122"/>
                <a:cs typeface="Courier New" pitchFamily="34" charset="-120"/>
              </a:rPr>
              <a:t>[phone]</a:t>
            </a:r>
            <a:endParaRPr lang="en-US" sz="2325" dirty="0"/>
          </a:p>
        </p:txBody>
      </p:sp>
      <p:sp>
        <p:nvSpPr>
          <p:cNvPr id="9" name="Shape 7"/>
          <p:cNvSpPr/>
          <p:nvPr/>
        </p:nvSpPr>
        <p:spPr>
          <a:xfrm>
            <a:off x="914400" y="8867775"/>
            <a:ext cx="16459200" cy="9525"/>
          </a:xfrm>
          <a:prstGeom prst="rect">
            <a:avLst/>
          </a:prstGeom>
          <a:solidFill>
            <a:srgbClr val="474747"/>
          </a:solidFill>
          <a:ln/>
        </p:spPr>
      </p:sp>
      <p:sp>
        <p:nvSpPr>
          <p:cNvPr id="10" name="Text 8"/>
          <p:cNvSpPr/>
          <p:nvPr/>
        </p:nvSpPr>
        <p:spPr>
          <a:xfrm>
            <a:off x="914400" y="9105900"/>
            <a:ext cx="16952976" cy="304800"/>
          </a:xfrm>
          <a:prstGeom prst="rect">
            <a:avLst/>
          </a:prstGeom>
          <a:noFill/>
          <a:ln/>
        </p:spPr>
        <p:txBody>
          <a:bodyPr wrap="square" lIns="25400" tIns="25400" rIns="25400" bIns="25400" rtlCol="0" anchor="t">
            <a:normAutofit/>
          </a:bodyPr>
          <a:lstStyle/>
          <a:p>
            <a:pPr algn="l" indent="0" marL="0">
              <a:buNone/>
            </a:pPr>
            <a:r>
              <a:rPr lang="en-US" sz="1800" dirty="0">
                <a:solidFill>
                  <a:srgbClr val="808080"/>
                </a:solidFill>
                <a:latin typeface="Courier New" pitchFamily="34" charset="0"/>
                <a:ea typeface="Courier New" pitchFamily="34" charset="-122"/>
                <a:cs typeface="Courier New" pitchFamily="34" charset="-120"/>
              </a:rPr>
              <a:t>[confidentiality note]</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2026-07-29T15:40:59Z</dcterms:created>
  <dcterms:modified xsi:type="dcterms:W3CDTF">2026-07-29T15:40:59Z</dcterms:modified>
</cp:coreProperties>
</file>